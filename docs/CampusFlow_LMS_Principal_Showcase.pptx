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bc5858b1-f46f-6541-d18c-623bffc93c34}">
          <p14:sldIdLst>
            <p14:sldId id="256"/>
            <p14:sldId id="257"/>
          </p14:sldIdLst>
        </p14:section>
        <p14:section name="Course setup" id="{734b3c22-1cb1-f8bf-731f-04691ae38c60}">
          <p14:sldIdLst>
            <p14:sldId id="258"/>
            <p14:sldId id="259"/>
            <p14:sldId id="260"/>
            <p14:sldId id="261"/>
          </p14:sldIdLst>
        </p14:section>
        <p14:section name="Teaching" id="{3c964d72-59cc-b245-e94b-42cb1c1aec06}">
          <p14:sldIdLst>
            <p14:sldId id="262"/>
            <p14:sldId id="263"/>
          </p14:sldIdLst>
        </p14:section>
        <p14:section name="Assessment" id="{0d9ed6ba-9d1f-da62-9b6c-d70a4a194033}">
          <p14:sldIdLst>
            <p14:sldId id="264"/>
            <p14:sldId id="265"/>
            <p14:sldId id="266"/>
            <p14:sldId id="267"/>
            <p14:sldId id="268"/>
          </p14:sldIdLst>
        </p14:section>
        <p14:section name="Students &amp; institution" id="{c5eec5e9-62aa-f67e-492b-227addd1e70b}">
          <p14:sldIdLst>
            <p14:sldId id="269"/>
            <p14:sldId id="270"/>
          </p14:sldIdLst>
        </p14:section>
        <p14:section name="Status &amp; proposal" id="{866b9798-a608-675c-c824-f9443ef4767f}">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Principal for the time. One-line pitch: every teacher already writes a lesson plan, keeps attendance, sets ISE/MSE papers, grades with rubrics and computes CO attainment for NBA, today across Word, the ERP and Excel. CampusFlow does all of it in one place, starting from the syllabus the teacher already has. About 15 minutes, followed by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Principal's own experience: lesson plans are submitted at the start of term and rarely updated; attendance is chased through pending lists; ISE/MSE marks are converted to bucket marks in Excel; CO attainment for NBA is assembled after the fact. Each step re-types the same course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backbone of the system. The syllabus defines course outcomes and units; the plan maps every session to an outcome; the timetable dates the plan; classes record what really happened; assignments and exams are tagged to outcomes, so results and CO attainment fall out automatically. Students connect to the same flow, much like Google Classroom.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uploads the university syllabus. CampusFlow reads the course code, credits, L-T-P hours, course outcomes, units with hours and topics, textbooks and lab experiments. The teacher checks it on one review screen, then one click creates the session plan, the ISE/MSE/TW/ESE scheme, rubric templates, a question bank, a draft assignment per unit, and draft MSE and ESE papers. Figures are from the sample syllabus used in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example: the MEC702 Logistics and Supply Chain Management lesson plan, an old-format Word .doc, uploaded as-is. '26/7 (2)' is read as two lectures that day; 1.1, 2.1 numbering becomes units; Independence Day becomes a holiday; MSE and ESE dates are picked up. At the end of term the same format is exported with actual dates and remarks filled in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session shows its date, objective, course outcome, Bloom level, teaching method and suggested digital tools. Methods change with the year: guided practice and demonstrations for first years, flipped classes and problem-based learning in third year, case studies, projects and research-paper discussion for final years. Teachers can edit, reorder, insert or regenerate any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testing: declaring Monday 5 October a holiday ('Heavy rain') cancelled that class with the reason recorded, moved its topic to Wednesday and warned that one session no longer fit; adding Saturday 10 October as a supplementary day following Monday's timetable brought it back. Administrators can declare a holiday for the whole institute in one step. Classes already taught are never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Modelled on the ERP's attendance screen: per class, how many classes are marked and pending, and a list of pending classes. Taking a class records attendance, what was actually covered, notes and slides. A partly covered topic carries over to the next class automatically. Deleting a class that never happened shifts the plan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grade by clicking a performance level for each rubric criterion; the total is computed. A typed or imported total is spread back across the rubric criteria, which keeps outcome data complete. Each criterion maps to a course outcome, which feeds CO attainment.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for a course with a lab: ISE-1 10%, MSE 20%, ISE-2 10%, term work 10%, ESE 50%, with a 40% minimum in ESE and term work; theory-only courses default to 10/20/10/60. Question papers are generated against a blueprint and print with a marking scheme. The gradebook converts everything to bucket marks and a final grade on the 10-point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a re-exam, typically for ESE failures and absentees, where the new score replaces the original; and an additional or make-up assessment, for a missed ISE test or assignment or for improvement, where the better score counts. Results fold into the gradebook, CIE report and final grade, marked RE or ADD so the audit trail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question and rubric criterion is linked to a course outcome from the start, attainment is calculated continuously. A student attains a CO at its target score, 60% by default. Level 3 when at least 70% of students attain it, level 2 at 60%, level 1 at 50%. COs with no evidence are flagged mid-semester, while there is still time to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consolidated CIE and attendance report mirrors the ERP's: one row per student with every internal assessment, bucket marks per component, total CIE and attendance. NE marks anything not entered yet. Sortable by roll number, name or PRN and exportable to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side is deliberately simple, like Google Classroom: join with a code, see what is due, turn in work, read feedback, check attendance and class notes. Marks still being entered, and exam marks not yet released, are never shown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Courses sit inside academic terms just like the current ERP. Administrators can declare an institute-wide holiday that updates every course's plan. Students can be added in bulk from a roll-number list with PRNs. The software can be hosted on the college's own server, so student data stays with the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status. All features shown are implemented and covered by 37 automated tests, and a full browser walkthrough passed all 17 steps. It is not yet running on a college server: before a pilot it needs proper hosting with a production database and backups, a student-list import from the ERP, a privacy and access review, and a short training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bracketed items before presenting: the start month, number of faculty and courses, and the department. Run in parallel with the existing ERP for one semester so nothing is at risk, then compare time spent and the completeness of CO data before any wider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to the live demo. Suggested 5-minute path: log in as a teacher, upload a syllabus and create the course; open the learning plan; add the timetable and declare a holiday; take attendance for one class; grade one submission with the rubric; open the CIE report and CO attainment; then log in as a student to show their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515600" cy="411480"/>
          </a:xfrm>
          <a:prstGeom prst="rect">
            <a:avLst/>
          </a:prstGeom>
          <a:noFill/>
          <a:ln/>
        </p:spPr>
        <p:txBody>
          <a:bodyPr wrap="square" rtlCol="0"/>
          <a:lstStyle>
            <a:lvl1pPr indent="0" marL="0">
              <a:buNone/>
              <a:defRPr lang="en-US" sz="1400" b="1" spc="300" kern="0" dirty="0">
                <a:solidFill>
                  <a:schemeClr val="accent3"/>
                </a:solidFill>
              </a:defRPr>
            </a:lvl1pPr>
          </a:lstStyle>
          <a:p>
            <a:pPr indent="0" marL="0">
              <a:buNone/>
            </a:pPr>
            <a:endParaRPr lang="en-US" sz="1400" dirty="0"/>
          </a:p>
        </p:txBody>
      </p:sp>
      <p:sp>
        <p:nvSpPr>
          <p:cNvPr id="3" name="Text 0"/>
          <p:cNvSpPr/>
          <p:nvPr>
            <p:ph idx="101" type="title" hasCustomPrompt="1"/>
          </p:nvPr>
        </p:nvSpPr>
        <p:spPr>
          <a:xfrm>
            <a:off x="731520" y="2011680"/>
            <a:ext cx="10515600" cy="1280160"/>
          </a:xfrm>
          <a:prstGeom prst="rect">
            <a:avLst/>
          </a:prstGeom>
          <a:noFill/>
          <a:ln/>
        </p:spPr>
        <p:txBody>
          <a:bodyPr wrap="square" rtlCol="0"/>
          <a:lstStyle>
            <a:lvl1pPr indent="0" marL="0">
              <a:buNone/>
              <a:defRPr lang="en-US" sz="6000" b="1" dirty="0">
                <a:solidFill>
                  <a:schemeClr val="bg1"/>
                </a:solidFill>
              </a:defRPr>
            </a:lvl1pPr>
          </a:lstStyle>
          <a:p>
            <a:pPr indent="0" marL="0">
              <a:buNone/>
            </a:pPr>
            <a:endParaRPr lang="en-US" sz="6000" dirty="0"/>
          </a:p>
        </p:txBody>
      </p:sp>
      <p:sp>
        <p:nvSpPr>
          <p:cNvPr id="4" name="Text 0"/>
          <p:cNvSpPr/>
          <p:nvPr>
            <p:ph idx="102" type="body" hasCustomPrompt="1"/>
          </p:nvPr>
        </p:nvSpPr>
        <p:spPr>
          <a:xfrm>
            <a:off x="731520" y="3429000"/>
            <a:ext cx="9601200" cy="1188720"/>
          </a:xfrm>
          <a:prstGeom prst="rect">
            <a:avLst/>
          </a:prstGeom>
          <a:noFill/>
          <a:ln/>
        </p:spPr>
        <p:txBody>
          <a:bodyPr wrap="square" rtlCol="0"/>
          <a:lstStyle>
            <a:lvl1pPr indent="0" marL="0">
              <a:buNone/>
              <a:defRPr lang="en-US" sz="2600" dirty="0">
                <a:solidFill>
                  <a:schemeClr val="accent5"/>
                </a:solidFill>
                <a:latin typeface="Cambria" pitchFamily="34" charset="0"/>
                <a:ea typeface="Cambria" pitchFamily="34" charset="-122"/>
                <a:cs typeface="Cambria" pitchFamily="34" charset="-120"/>
              </a:defRPr>
            </a:lvl1pPr>
          </a:lstStyle>
          <a:p>
            <a:pPr indent="0" marL="0">
              <a:buNone/>
            </a:pPr>
            <a:endParaRPr lang="en-US" sz="2600" dirty="0"/>
          </a:p>
        </p:txBody>
      </p:sp>
      <p:sp>
        <p:nvSpPr>
          <p:cNvPr id="5" name="Text 0"/>
          <p:cNvSpPr/>
          <p:nvPr>
            <p:ph idx="103" type="body" hasCustomPrompt="1"/>
          </p:nvPr>
        </p:nvSpPr>
        <p:spPr>
          <a:xfrm>
            <a:off x="731520" y="5852160"/>
            <a:ext cx="10515600" cy="4114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tinted">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rtlCol="0"/>
          <a:lstStyle>
            <a:lvl1pPr indent="0" marL="0">
              <a:buNone/>
              <a:defRPr lang="en-US" sz="1300" b="1" spc="200" kern="0" dirty="0">
                <a:solidFill>
                  <a:schemeClr val="accent3"/>
                </a:solidFill>
              </a:defRPr>
            </a:lvl1pPr>
          </a:lstStyle>
          <a:p>
            <a:pPr indent="0" marL="0">
              <a:buNone/>
            </a:pP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515600" cy="411480"/>
          </a:xfrm>
          <a:prstGeom prst="rect">
            <a:avLst/>
          </a:prstGeom>
          <a:noFill/>
          <a:ln/>
        </p:spPr>
        <p:txBody>
          <a:bodyPr wrap="square" rtlCol="0"/>
          <a:lstStyle/>
          <a:p>
            <a:pPr indent="0" marL="0">
              <a:buNone/>
            </a:pPr>
            <a:r>
              <a:rPr lang="en-US" sz="1400" b="1" spc="300" kern="0" dirty="0">
                <a:solidFill>
                  <a:schemeClr val="accent3"/>
                </a:solidFill>
              </a:rPr>
              <a:t>LEARNING MANAGEMENT SYSTEM · PROPOSAL</a:t>
            </a:r>
            <a:endParaRPr lang="en-US" sz="1400" dirty="0"/>
          </a:p>
        </p:txBody>
      </p:sp>
      <p:sp>
        <p:nvSpPr>
          <p:cNvPr id="3" name="Text 0"/>
          <p:cNvSpPr/>
          <p:nvPr>
            <p:ph idx="101" type="title" hasCustomPrompt="1"/>
          </p:nvPr>
        </p:nvSpPr>
        <p:spPr>
          <a:xfrm>
            <a:off x="731520" y="2011680"/>
            <a:ext cx="10515600" cy="1280160"/>
          </a:xfrm>
          <a:prstGeom prst="rect">
            <a:avLst/>
          </a:prstGeom>
          <a:noFill/>
          <a:ln/>
        </p:spPr>
        <p:txBody>
          <a:bodyPr wrap="square" lIns="0" tIns="0" rIns="0" bIns="0" rtlCol="0" anchor="b"/>
          <a:lstStyle/>
          <a:p>
            <a:pPr indent="0" marL="0">
              <a:buNone/>
            </a:pPr>
            <a:r>
              <a:rPr lang="en-US" sz="6000" b="1" dirty="0">
                <a:solidFill>
                  <a:schemeClr val="bg1"/>
                </a:solidFill>
              </a:rPr>
              <a:t>CampusFlow</a:t>
            </a:r>
            <a:endParaRPr lang="en-US" sz="6000" dirty="0"/>
          </a:p>
        </p:txBody>
      </p:sp>
      <p:sp>
        <p:nvSpPr>
          <p:cNvPr id="4" name="Text 0"/>
          <p:cNvSpPr/>
          <p:nvPr>
            <p:ph idx="102" type="body" hasCustomPrompt="1"/>
          </p:nvPr>
        </p:nvSpPr>
        <p:spPr>
          <a:xfrm>
            <a:off x="731520" y="3429000"/>
            <a:ext cx="9601200" cy="1188720"/>
          </a:xfrm>
          <a:prstGeom prst="rect">
            <a:avLst/>
          </a:prstGeom>
          <a:noFill/>
          <a:ln/>
        </p:spPr>
        <p:txBody>
          <a:bodyPr wrap="square" lIns="0" tIns="0" rIns="0" bIns="0" rtlCol="0" anchor="t"/>
          <a:lstStyle/>
          <a:p>
            <a:pPr indent="0" marL="0">
              <a:buNone/>
            </a:pPr>
            <a:r>
              <a:rPr lang="en-US" sz="2600" dirty="0">
                <a:solidFill>
                  <a:schemeClr val="accent5"/>
                </a:solidFill>
                <a:latin typeface="Cambria" pitchFamily="34" charset="0"/>
                <a:ea typeface="Cambria" pitchFamily="34" charset="-122"/>
                <a:cs typeface="Cambria" pitchFamily="34" charset="-120"/>
              </a:rPr>
              <a:t>From syllabus to results — one system for every course, first year to final year.</a:t>
            </a:r>
            <a:endParaRPr lang="en-US" sz="2600" dirty="0"/>
          </a:p>
        </p:txBody>
      </p:sp>
      <p:sp>
        <p:nvSpPr>
          <p:cNvPr id="5" name="Text 0"/>
          <p:cNvSpPr/>
          <p:nvPr>
            <p:ph idx="103" type="body" hasCustomPrompt="1"/>
          </p:nvPr>
        </p:nvSpPr>
        <p:spPr>
          <a:xfrm>
            <a:off x="731520" y="5852160"/>
            <a:ext cx="10515600" cy="411480"/>
          </a:xfrm>
          <a:prstGeom prst="rect">
            <a:avLst/>
          </a:prstGeom>
          <a:noFill/>
          <a:ln/>
        </p:spPr>
        <p:txBody>
          <a:bodyPr wrap="square" lIns="0" tIns="0" rIns="0" bIns="0" rtlCol="0"/>
          <a:lstStyle/>
          <a:p>
            <a:pPr indent="0" marL="0">
              <a:buNone/>
            </a:pPr>
            <a:r>
              <a:rPr lang="en-US" sz="1600" dirty="0">
                <a:solidFill>
                  <a:schemeClr val="accent3"/>
                </a:solidFill>
              </a:rPr>
              <a:t>Presented to the Principal · Prof. Mayur Aggarwal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THE SITUATION TODAY</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A teacher's semester lives in five different places</a:t>
            </a:r>
            <a:endParaRPr lang="en-US" sz="3200" dirty="0"/>
          </a:p>
        </p:txBody>
      </p:sp>
      <p:sp>
        <p:nvSpPr>
          <p:cNvPr id="4" name="card-1"/>
          <p:cNvSpPr/>
          <p:nvPr/>
        </p:nvSpPr>
        <p:spPr>
          <a:xfrm>
            <a:off x="548640" y="1920240"/>
            <a:ext cx="2103120" cy="2377440"/>
          </a:xfrm>
          <a:prstGeom prst="roundRect">
            <a:avLst>
              <a:gd name="adj" fmla="val 5217"/>
            </a:avLst>
          </a:prstGeom>
          <a:solidFill>
            <a:schemeClr val="bg2"/>
          </a:solidFill>
          <a:ln/>
        </p:spPr>
      </p:sp>
      <p:sp>
        <p:nvSpPr>
          <p:cNvPr id="5" name="dot-2"/>
          <p:cNvSpPr/>
          <p:nvPr/>
        </p:nvSpPr>
        <p:spPr>
          <a:xfrm>
            <a:off x="777240" y="2103120"/>
            <a:ext cx="457200" cy="457200"/>
          </a:xfrm>
          <a:prstGeom prst="ellipse">
            <a:avLst/>
          </a:prstGeom>
          <a:solidFill>
            <a:schemeClr val="accent1"/>
          </a:solidFill>
          <a:ln/>
        </p:spPr>
      </p:sp>
      <p:sp>
        <p:nvSpPr>
          <p:cNvPr id="6" name="dot-num-3"/>
          <p:cNvSpPr txBox="1"/>
          <p:nvPr/>
        </p:nvSpPr>
        <p:spPr>
          <a:xfrm>
            <a:off x="77724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problem-text-4"/>
          <p:cNvSpPr txBox="1"/>
          <p:nvPr/>
        </p:nvSpPr>
        <p:spPr>
          <a:xfrm>
            <a:off x="777240" y="2743200"/>
            <a:ext cx="1645920" cy="14630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Lesson plan</a:t>
            </a:r>
            <a:endParaRPr lang="en-US" sz="1700" dirty="0"/>
          </a:p>
          <a:p>
            <a:pPr indent="0" marL="0">
              <a:buNone/>
            </a:pPr>
            <a:r>
              <a:rPr lang="en-US" sz="1400" dirty="0">
                <a:solidFill>
                  <a:schemeClr val="tx2"/>
                </a:solidFill>
              </a:rPr>
              <a:t>Typed in Word, actual dates filled in by hand at the end</a:t>
            </a:r>
            <a:endParaRPr lang="en-US" sz="1700" dirty="0"/>
          </a:p>
        </p:txBody>
      </p:sp>
      <p:sp>
        <p:nvSpPr>
          <p:cNvPr id="8" name="card-5"/>
          <p:cNvSpPr/>
          <p:nvPr/>
        </p:nvSpPr>
        <p:spPr>
          <a:xfrm>
            <a:off x="2788920" y="1920240"/>
            <a:ext cx="2103120" cy="2377440"/>
          </a:xfrm>
          <a:prstGeom prst="roundRect">
            <a:avLst>
              <a:gd name="adj" fmla="val 5217"/>
            </a:avLst>
          </a:prstGeom>
          <a:solidFill>
            <a:schemeClr val="bg2"/>
          </a:solidFill>
          <a:ln/>
        </p:spPr>
      </p:sp>
      <p:sp>
        <p:nvSpPr>
          <p:cNvPr id="9" name="dot-6"/>
          <p:cNvSpPr/>
          <p:nvPr/>
        </p:nvSpPr>
        <p:spPr>
          <a:xfrm>
            <a:off x="3017520" y="2103120"/>
            <a:ext cx="457200" cy="457200"/>
          </a:xfrm>
          <a:prstGeom prst="ellipse">
            <a:avLst/>
          </a:prstGeom>
          <a:solidFill>
            <a:schemeClr val="accent1"/>
          </a:solidFill>
          <a:ln/>
        </p:spPr>
      </p:sp>
      <p:sp>
        <p:nvSpPr>
          <p:cNvPr id="10" name="dot-num-7"/>
          <p:cNvSpPr txBox="1"/>
          <p:nvPr/>
        </p:nvSpPr>
        <p:spPr>
          <a:xfrm>
            <a:off x="301752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problem-text-8"/>
          <p:cNvSpPr txBox="1"/>
          <p:nvPr/>
        </p:nvSpPr>
        <p:spPr>
          <a:xfrm>
            <a:off x="3017520" y="2743200"/>
            <a:ext cx="1645920" cy="14630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Attendance</a:t>
            </a:r>
            <a:endParaRPr lang="en-US" sz="1700" dirty="0"/>
          </a:p>
          <a:p>
            <a:pPr indent="0" marL="0">
              <a:buNone/>
            </a:pPr>
            <a:r>
              <a:rPr lang="en-US" sz="1400" dirty="0">
                <a:solidFill>
                  <a:schemeClr val="tx2"/>
                </a:solidFill>
              </a:rPr>
              <a:t>In the ERP, class by class, with a growing pending list</a:t>
            </a:r>
            <a:endParaRPr lang="en-US" sz="1700" dirty="0"/>
          </a:p>
        </p:txBody>
      </p:sp>
      <p:sp>
        <p:nvSpPr>
          <p:cNvPr id="12" name="card-9"/>
          <p:cNvSpPr/>
          <p:nvPr/>
        </p:nvSpPr>
        <p:spPr>
          <a:xfrm>
            <a:off x="5029200" y="1920240"/>
            <a:ext cx="2103120" cy="2377440"/>
          </a:xfrm>
          <a:prstGeom prst="roundRect">
            <a:avLst>
              <a:gd name="adj" fmla="val 5217"/>
            </a:avLst>
          </a:prstGeom>
          <a:solidFill>
            <a:schemeClr val="bg2"/>
          </a:solidFill>
          <a:ln/>
        </p:spPr>
      </p:sp>
      <p:sp>
        <p:nvSpPr>
          <p:cNvPr id="13" name="dot-10"/>
          <p:cNvSpPr/>
          <p:nvPr/>
        </p:nvSpPr>
        <p:spPr>
          <a:xfrm>
            <a:off x="5257800" y="2103120"/>
            <a:ext cx="457200" cy="457200"/>
          </a:xfrm>
          <a:prstGeom prst="ellipse">
            <a:avLst/>
          </a:prstGeom>
          <a:solidFill>
            <a:schemeClr val="accent1"/>
          </a:solidFill>
          <a:ln/>
        </p:spPr>
      </p:sp>
      <p:sp>
        <p:nvSpPr>
          <p:cNvPr id="14" name="dot-num-11"/>
          <p:cNvSpPr txBox="1"/>
          <p:nvPr/>
        </p:nvSpPr>
        <p:spPr>
          <a:xfrm>
            <a:off x="525780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problem-text-12"/>
          <p:cNvSpPr txBox="1"/>
          <p:nvPr/>
        </p:nvSpPr>
        <p:spPr>
          <a:xfrm>
            <a:off x="5257800" y="2743200"/>
            <a:ext cx="1645920" cy="14630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Marks</a:t>
            </a:r>
            <a:endParaRPr lang="en-US" sz="1700" dirty="0"/>
          </a:p>
          <a:p>
            <a:pPr indent="0" marL="0">
              <a:buNone/>
            </a:pPr>
            <a:r>
              <a:rPr lang="en-US" sz="1400" dirty="0">
                <a:solidFill>
                  <a:schemeClr val="tx2"/>
                </a:solidFill>
              </a:rPr>
              <a:t>Excel sheets per ISE and MSE, bucket conversions by hand</a:t>
            </a:r>
            <a:endParaRPr lang="en-US" sz="1700" dirty="0"/>
          </a:p>
        </p:txBody>
      </p:sp>
      <p:sp>
        <p:nvSpPr>
          <p:cNvPr id="16" name="card-13"/>
          <p:cNvSpPr/>
          <p:nvPr/>
        </p:nvSpPr>
        <p:spPr>
          <a:xfrm>
            <a:off x="7269480" y="1920240"/>
            <a:ext cx="2103120" cy="2377440"/>
          </a:xfrm>
          <a:prstGeom prst="roundRect">
            <a:avLst>
              <a:gd name="adj" fmla="val 5217"/>
            </a:avLst>
          </a:prstGeom>
          <a:solidFill>
            <a:schemeClr val="bg2"/>
          </a:solidFill>
          <a:ln/>
        </p:spPr>
      </p:sp>
      <p:sp>
        <p:nvSpPr>
          <p:cNvPr id="17" name="dot-14"/>
          <p:cNvSpPr/>
          <p:nvPr/>
        </p:nvSpPr>
        <p:spPr>
          <a:xfrm>
            <a:off x="7498080" y="2103120"/>
            <a:ext cx="457200" cy="457200"/>
          </a:xfrm>
          <a:prstGeom prst="ellipse">
            <a:avLst/>
          </a:prstGeom>
          <a:solidFill>
            <a:schemeClr val="accent1"/>
          </a:solidFill>
          <a:ln/>
        </p:spPr>
      </p:sp>
      <p:sp>
        <p:nvSpPr>
          <p:cNvPr id="18" name="dot-num-15"/>
          <p:cNvSpPr txBox="1"/>
          <p:nvPr/>
        </p:nvSpPr>
        <p:spPr>
          <a:xfrm>
            <a:off x="749808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problem-text-16"/>
          <p:cNvSpPr txBox="1"/>
          <p:nvPr/>
        </p:nvSpPr>
        <p:spPr>
          <a:xfrm>
            <a:off x="7498080" y="2743200"/>
            <a:ext cx="1645920" cy="14630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CO attainment</a:t>
            </a:r>
            <a:endParaRPr lang="en-US" sz="1700" dirty="0"/>
          </a:p>
          <a:p>
            <a:pPr indent="0" marL="0">
              <a:buNone/>
            </a:pPr>
            <a:r>
              <a:rPr lang="en-US" sz="1400" dirty="0">
                <a:solidFill>
                  <a:schemeClr val="tx2"/>
                </a:solidFill>
              </a:rPr>
              <a:t>Computed manually for NBA files after the semester</a:t>
            </a:r>
            <a:endParaRPr lang="en-US" sz="1700" dirty="0"/>
          </a:p>
        </p:txBody>
      </p:sp>
      <p:sp>
        <p:nvSpPr>
          <p:cNvPr id="20" name="card-17"/>
          <p:cNvSpPr/>
          <p:nvPr/>
        </p:nvSpPr>
        <p:spPr>
          <a:xfrm>
            <a:off x="9509760" y="1920240"/>
            <a:ext cx="2103120" cy="2377440"/>
          </a:xfrm>
          <a:prstGeom prst="roundRect">
            <a:avLst>
              <a:gd name="adj" fmla="val 5217"/>
            </a:avLst>
          </a:prstGeom>
          <a:solidFill>
            <a:schemeClr val="bg2"/>
          </a:solidFill>
          <a:ln/>
        </p:spPr>
      </p:sp>
      <p:sp>
        <p:nvSpPr>
          <p:cNvPr id="21" name="dot-18"/>
          <p:cNvSpPr/>
          <p:nvPr/>
        </p:nvSpPr>
        <p:spPr>
          <a:xfrm>
            <a:off x="9738360" y="2103120"/>
            <a:ext cx="457200" cy="457200"/>
          </a:xfrm>
          <a:prstGeom prst="ellipse">
            <a:avLst/>
          </a:prstGeom>
          <a:solidFill>
            <a:schemeClr val="accent1"/>
          </a:solidFill>
          <a:ln/>
        </p:spPr>
      </p:sp>
      <p:sp>
        <p:nvSpPr>
          <p:cNvPr id="22" name="dot-num-19"/>
          <p:cNvSpPr txBox="1"/>
          <p:nvPr/>
        </p:nvSpPr>
        <p:spPr>
          <a:xfrm>
            <a:off x="973836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problem-text-20"/>
          <p:cNvSpPr txBox="1"/>
          <p:nvPr/>
        </p:nvSpPr>
        <p:spPr>
          <a:xfrm>
            <a:off x="9738360" y="2743200"/>
            <a:ext cx="1645920" cy="14630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Changes</a:t>
            </a:r>
            <a:endParaRPr lang="en-US" sz="1700" dirty="0"/>
          </a:p>
          <a:p>
            <a:pPr indent="0" marL="0">
              <a:buNone/>
            </a:pPr>
            <a:r>
              <a:rPr lang="en-US" sz="1400" dirty="0">
                <a:solidFill>
                  <a:schemeClr val="tx2"/>
                </a:solidFill>
              </a:rPr>
              <a:t>Holidays, lost classes and re-exams handled ad hoc</a:t>
            </a:r>
            <a:endParaRPr lang="en-US" sz="1700" dirty="0"/>
          </a:p>
        </p:txBody>
      </p:sp>
      <p:sp>
        <p:nvSpPr>
          <p:cNvPr id="24" name="statement-21"/>
          <p:cNvSpPr txBox="1"/>
          <p:nvPr/>
        </p:nvSpPr>
        <p:spPr>
          <a:xfrm>
            <a:off x="548640" y="4709160"/>
            <a:ext cx="10515600" cy="914400"/>
          </a:xfrm>
          <a:prstGeom prst="rect">
            <a:avLst/>
          </a:prstGeom>
          <a:noFill/>
          <a:ln/>
        </p:spPr>
        <p:txBody>
          <a:bodyPr wrap="square" lIns="0" tIns="0" rIns="0" bIns="0" rtlCol="0" anchor="ctr"/>
          <a:lstStyle/>
          <a:p>
            <a:pPr indent="0" marL="0">
              <a:buNone/>
            </a:pPr>
            <a:r>
              <a:rPr lang="en-US" sz="2000" i="1" dirty="0">
                <a:solidFill>
                  <a:schemeClr val="tx1"/>
                </a:solidFill>
                <a:latin typeface="Cambria" pitchFamily="34" charset="0"/>
                <a:ea typeface="Cambria" pitchFamily="34" charset="-122"/>
                <a:cs typeface="Cambria" pitchFamily="34" charset="-120"/>
              </a:rPr>
              <a:t>None of these talk to each other, so the same information is typed again and again, and the plan drifts from what is actually taught.</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THE IDEA</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One connected flow — each step feeds the next</a:t>
            </a:r>
            <a:endParaRPr lang="en-US" sz="3200" dirty="0"/>
          </a:p>
        </p:txBody>
      </p:sp>
      <p:sp>
        <p:nvSpPr>
          <p:cNvPr id="4" name="card-22"/>
          <p:cNvSpPr/>
          <p:nvPr/>
        </p:nvSpPr>
        <p:spPr>
          <a:xfrm>
            <a:off x="548640" y="1965960"/>
            <a:ext cx="1481328" cy="2468880"/>
          </a:xfrm>
          <a:prstGeom prst="roundRect">
            <a:avLst>
              <a:gd name="adj" fmla="val 7407"/>
            </a:avLst>
          </a:prstGeom>
          <a:solidFill>
            <a:schemeClr val="tx1"/>
          </a:solidFill>
          <a:ln/>
        </p:spPr>
      </p:sp>
      <p:sp>
        <p:nvSpPr>
          <p:cNvPr id="5" name="card-text-23"/>
          <p:cNvSpPr txBox="1"/>
          <p:nvPr/>
        </p:nvSpPr>
        <p:spPr>
          <a:xfrm>
            <a:off x="713232" y="2148840"/>
            <a:ext cx="1060704" cy="2194560"/>
          </a:xfrm>
          <a:prstGeom prst="rect">
            <a:avLst/>
          </a:prstGeom>
          <a:noFill/>
          <a:ln/>
        </p:spPr>
        <p:txBody>
          <a:bodyPr wrap="square" lIns="0" tIns="0" rIns="0" bIns="0" rtlCol="0" anchor="t"/>
          <a:lstStyle/>
          <a:p>
            <a:pPr indent="0" marL="0">
              <a:spcAft>
                <a:spcPts val="400"/>
              </a:spcAft>
              <a:buNone/>
            </a:pPr>
            <a:r>
              <a:rPr lang="en-US" sz="2200" b="1" dirty="0">
                <a:solidFill>
                  <a:schemeClr val="accent3"/>
                </a:solidFill>
              </a:rPr>
              <a:t>1</a:t>
            </a:r>
            <a:endParaRPr lang="en-US" sz="2200" dirty="0"/>
          </a:p>
          <a:p>
            <a:pPr indent="0" marL="0">
              <a:spcAft>
                <a:spcPts val="600"/>
              </a:spcAft>
              <a:buNone/>
            </a:pPr>
            <a:r>
              <a:rPr lang="en-US" sz="1500" b="1" dirty="0">
                <a:solidFill>
                  <a:schemeClr val="bg1"/>
                </a:solidFill>
              </a:rPr>
              <a:t>Syllabus</a:t>
            </a:r>
            <a:endParaRPr lang="en-US" sz="2200" dirty="0"/>
          </a:p>
          <a:p>
            <a:pPr indent="0" marL="0">
              <a:buNone/>
            </a:pPr>
            <a:r>
              <a:rPr lang="en-US" sz="1300" dirty="0">
                <a:solidFill>
                  <a:schemeClr val="accent5"/>
                </a:solidFill>
              </a:rPr>
              <a:t>COs, units, topics, hours read automatically</a:t>
            </a:r>
            <a:endParaRPr lang="en-US" sz="2200" dirty="0"/>
          </a:p>
        </p:txBody>
      </p:sp>
      <p:sp>
        <p:nvSpPr>
          <p:cNvPr id="6" name="card-24"/>
          <p:cNvSpPr/>
          <p:nvPr/>
        </p:nvSpPr>
        <p:spPr>
          <a:xfrm>
            <a:off x="2121408" y="1965960"/>
            <a:ext cx="1481328" cy="2468880"/>
          </a:xfrm>
          <a:prstGeom prst="roundRect">
            <a:avLst>
              <a:gd name="adj" fmla="val 7407"/>
            </a:avLst>
          </a:prstGeom>
          <a:solidFill>
            <a:schemeClr val="bg1"/>
          </a:solidFill>
          <a:ln w="9525">
            <a:solidFill>
              <a:srgbClr val="CDD5E3"/>
            </a:solidFill>
            <a:prstDash val="solid"/>
          </a:ln>
        </p:spPr>
      </p:sp>
      <p:sp>
        <p:nvSpPr>
          <p:cNvPr id="7" name="card-text-25"/>
          <p:cNvSpPr txBox="1"/>
          <p:nvPr/>
        </p:nvSpPr>
        <p:spPr>
          <a:xfrm>
            <a:off x="2286000" y="2148840"/>
            <a:ext cx="1060704" cy="2194560"/>
          </a:xfrm>
          <a:prstGeom prst="rect">
            <a:avLst/>
          </a:prstGeom>
          <a:noFill/>
          <a:ln/>
        </p:spPr>
        <p:txBody>
          <a:bodyPr wrap="square" lIns="0" tIns="0" rIns="0" bIns="0" rtlCol="0" anchor="t"/>
          <a:lstStyle/>
          <a:p>
            <a:pPr indent="0" marL="0">
              <a:spcAft>
                <a:spcPts val="400"/>
              </a:spcAft>
              <a:buNone/>
            </a:pPr>
            <a:r>
              <a:rPr lang="en-US" sz="2200" b="1" dirty="0">
                <a:solidFill>
                  <a:schemeClr val="accent1"/>
                </a:solidFill>
              </a:rPr>
              <a:t>2</a:t>
            </a:r>
            <a:endParaRPr lang="en-US" sz="2200" dirty="0"/>
          </a:p>
          <a:p>
            <a:pPr indent="0" marL="0">
              <a:spcAft>
                <a:spcPts val="600"/>
              </a:spcAft>
              <a:buNone/>
            </a:pPr>
            <a:r>
              <a:rPr lang="en-US" sz="1500" b="1" dirty="0">
                <a:solidFill>
                  <a:schemeClr val="tx1"/>
                </a:solidFill>
              </a:rPr>
              <a:t>Learning plan</a:t>
            </a:r>
            <a:endParaRPr lang="en-US" sz="2200" dirty="0"/>
          </a:p>
          <a:p>
            <a:pPr indent="0" marL="0">
              <a:buNone/>
            </a:pPr>
            <a:r>
              <a:rPr lang="en-US" sz="1300" dirty="0">
                <a:solidFill>
                  <a:schemeClr val="tx2"/>
                </a:solidFill>
              </a:rPr>
              <a:t>Session by session, CO and Bloom mapped</a:t>
            </a:r>
            <a:endParaRPr lang="en-US" sz="2200" dirty="0"/>
          </a:p>
        </p:txBody>
      </p:sp>
      <p:sp>
        <p:nvSpPr>
          <p:cNvPr id="8" name="card-26"/>
          <p:cNvSpPr/>
          <p:nvPr/>
        </p:nvSpPr>
        <p:spPr>
          <a:xfrm>
            <a:off x="3694176" y="1965960"/>
            <a:ext cx="1481328" cy="2468880"/>
          </a:xfrm>
          <a:prstGeom prst="roundRect">
            <a:avLst>
              <a:gd name="adj" fmla="val 7407"/>
            </a:avLst>
          </a:prstGeom>
          <a:solidFill>
            <a:schemeClr val="bg1"/>
          </a:solidFill>
          <a:ln w="9525">
            <a:solidFill>
              <a:srgbClr val="CDD5E3"/>
            </a:solidFill>
            <a:prstDash val="solid"/>
          </a:ln>
        </p:spPr>
      </p:sp>
      <p:sp>
        <p:nvSpPr>
          <p:cNvPr id="9" name="card-text-27"/>
          <p:cNvSpPr txBox="1"/>
          <p:nvPr/>
        </p:nvSpPr>
        <p:spPr>
          <a:xfrm>
            <a:off x="3858768" y="2148840"/>
            <a:ext cx="1060704" cy="2194560"/>
          </a:xfrm>
          <a:prstGeom prst="rect">
            <a:avLst/>
          </a:prstGeom>
          <a:noFill/>
          <a:ln/>
        </p:spPr>
        <p:txBody>
          <a:bodyPr wrap="square" lIns="0" tIns="0" rIns="0" bIns="0" rtlCol="0" anchor="t"/>
          <a:lstStyle/>
          <a:p>
            <a:pPr indent="0" marL="0">
              <a:spcAft>
                <a:spcPts val="400"/>
              </a:spcAft>
              <a:buNone/>
            </a:pPr>
            <a:r>
              <a:rPr lang="en-US" sz="2200" b="1" dirty="0">
                <a:solidFill>
                  <a:schemeClr val="accent1"/>
                </a:solidFill>
              </a:rPr>
              <a:t>3</a:t>
            </a:r>
            <a:endParaRPr lang="en-US" sz="2200" dirty="0"/>
          </a:p>
          <a:p>
            <a:pPr indent="0" marL="0">
              <a:spcAft>
                <a:spcPts val="600"/>
              </a:spcAft>
              <a:buNone/>
            </a:pPr>
            <a:r>
              <a:rPr lang="en-US" sz="1500" b="1" dirty="0">
                <a:solidFill>
                  <a:schemeClr val="tx1"/>
                </a:solidFill>
              </a:rPr>
              <a:t>Timetable</a:t>
            </a:r>
            <a:endParaRPr lang="en-US" sz="2200" dirty="0"/>
          </a:p>
          <a:p>
            <a:pPr indent="0" marL="0">
              <a:buNone/>
            </a:pPr>
            <a:r>
              <a:rPr lang="en-US" sz="1300" dirty="0">
                <a:solidFill>
                  <a:schemeClr val="tx2"/>
                </a:solidFill>
              </a:rPr>
              <a:t>Plan placed on real dates, adapts to holidays</a:t>
            </a:r>
            <a:endParaRPr lang="en-US" sz="2200" dirty="0"/>
          </a:p>
        </p:txBody>
      </p:sp>
      <p:sp>
        <p:nvSpPr>
          <p:cNvPr id="10" name="card-28"/>
          <p:cNvSpPr/>
          <p:nvPr/>
        </p:nvSpPr>
        <p:spPr>
          <a:xfrm>
            <a:off x="5266944" y="1965960"/>
            <a:ext cx="1481328" cy="2468880"/>
          </a:xfrm>
          <a:prstGeom prst="roundRect">
            <a:avLst>
              <a:gd name="adj" fmla="val 7407"/>
            </a:avLst>
          </a:prstGeom>
          <a:solidFill>
            <a:schemeClr val="bg1"/>
          </a:solidFill>
          <a:ln w="9525">
            <a:solidFill>
              <a:srgbClr val="CDD5E3"/>
            </a:solidFill>
            <a:prstDash val="solid"/>
          </a:ln>
        </p:spPr>
      </p:sp>
      <p:sp>
        <p:nvSpPr>
          <p:cNvPr id="11" name="card-text-29"/>
          <p:cNvSpPr txBox="1"/>
          <p:nvPr/>
        </p:nvSpPr>
        <p:spPr>
          <a:xfrm>
            <a:off x="5431536" y="2148840"/>
            <a:ext cx="1060704" cy="2194560"/>
          </a:xfrm>
          <a:prstGeom prst="rect">
            <a:avLst/>
          </a:prstGeom>
          <a:noFill/>
          <a:ln/>
        </p:spPr>
        <p:txBody>
          <a:bodyPr wrap="square" lIns="0" tIns="0" rIns="0" bIns="0" rtlCol="0" anchor="t"/>
          <a:lstStyle/>
          <a:p>
            <a:pPr indent="0" marL="0">
              <a:spcAft>
                <a:spcPts val="400"/>
              </a:spcAft>
              <a:buNone/>
            </a:pPr>
            <a:r>
              <a:rPr lang="en-US" sz="2200" b="1" dirty="0">
                <a:solidFill>
                  <a:schemeClr val="accent1"/>
                </a:solidFill>
              </a:rPr>
              <a:t>4</a:t>
            </a:r>
            <a:endParaRPr lang="en-US" sz="2200" dirty="0"/>
          </a:p>
          <a:p>
            <a:pPr indent="0" marL="0">
              <a:spcAft>
                <a:spcPts val="600"/>
              </a:spcAft>
              <a:buNone/>
            </a:pPr>
            <a:r>
              <a:rPr lang="en-US" sz="1500" b="1" dirty="0">
                <a:solidFill>
                  <a:schemeClr val="tx1"/>
                </a:solidFill>
              </a:rPr>
              <a:t>Class</a:t>
            </a:r>
            <a:endParaRPr lang="en-US" sz="2200" dirty="0"/>
          </a:p>
          <a:p>
            <a:pPr indent="0" marL="0">
              <a:buNone/>
            </a:pPr>
            <a:r>
              <a:rPr lang="en-US" sz="1300" dirty="0">
                <a:solidFill>
                  <a:schemeClr val="tx2"/>
                </a:solidFill>
              </a:rPr>
              <a:t>Notes, attendance, planned vs actual</a:t>
            </a:r>
            <a:endParaRPr lang="en-US" sz="2200" dirty="0"/>
          </a:p>
        </p:txBody>
      </p:sp>
      <p:sp>
        <p:nvSpPr>
          <p:cNvPr id="12" name="card-30"/>
          <p:cNvSpPr/>
          <p:nvPr/>
        </p:nvSpPr>
        <p:spPr>
          <a:xfrm>
            <a:off x="6839712" y="1965960"/>
            <a:ext cx="1481328" cy="2468880"/>
          </a:xfrm>
          <a:prstGeom prst="roundRect">
            <a:avLst>
              <a:gd name="adj" fmla="val 7407"/>
            </a:avLst>
          </a:prstGeom>
          <a:solidFill>
            <a:schemeClr val="bg1"/>
          </a:solidFill>
          <a:ln w="9525">
            <a:solidFill>
              <a:srgbClr val="CDD5E3"/>
            </a:solidFill>
            <a:prstDash val="solid"/>
          </a:ln>
        </p:spPr>
      </p:sp>
      <p:sp>
        <p:nvSpPr>
          <p:cNvPr id="13" name="card-text-31"/>
          <p:cNvSpPr txBox="1"/>
          <p:nvPr/>
        </p:nvSpPr>
        <p:spPr>
          <a:xfrm>
            <a:off x="7004304" y="2148840"/>
            <a:ext cx="1060704" cy="2194560"/>
          </a:xfrm>
          <a:prstGeom prst="rect">
            <a:avLst/>
          </a:prstGeom>
          <a:noFill/>
          <a:ln/>
        </p:spPr>
        <p:txBody>
          <a:bodyPr wrap="square" lIns="0" tIns="0" rIns="0" bIns="0" rtlCol="0" anchor="t"/>
          <a:lstStyle/>
          <a:p>
            <a:pPr indent="0" marL="0">
              <a:spcAft>
                <a:spcPts val="400"/>
              </a:spcAft>
              <a:buNone/>
            </a:pPr>
            <a:r>
              <a:rPr lang="en-US" sz="2200" b="1" dirty="0">
                <a:solidFill>
                  <a:schemeClr val="accent1"/>
                </a:solidFill>
              </a:rPr>
              <a:t>5</a:t>
            </a:r>
            <a:endParaRPr lang="en-US" sz="2200" dirty="0"/>
          </a:p>
          <a:p>
            <a:pPr indent="0" marL="0">
              <a:spcAft>
                <a:spcPts val="600"/>
              </a:spcAft>
              <a:buNone/>
            </a:pPr>
            <a:r>
              <a:rPr lang="en-US" sz="1500" b="1" dirty="0">
                <a:solidFill>
                  <a:schemeClr val="tx1"/>
                </a:solidFill>
              </a:rPr>
              <a:t>Classwork</a:t>
            </a:r>
            <a:endParaRPr lang="en-US" sz="2200" dirty="0"/>
          </a:p>
          <a:p>
            <a:pPr indent="0" marL="0">
              <a:buNone/>
            </a:pPr>
            <a:r>
              <a:rPr lang="en-US" sz="1300" dirty="0">
                <a:solidFill>
                  <a:schemeClr val="tx2"/>
                </a:solidFill>
              </a:rPr>
              <a:t>Assignments graded with rubrics</a:t>
            </a:r>
            <a:endParaRPr lang="en-US" sz="2200" dirty="0"/>
          </a:p>
        </p:txBody>
      </p:sp>
      <p:sp>
        <p:nvSpPr>
          <p:cNvPr id="14" name="card-32"/>
          <p:cNvSpPr/>
          <p:nvPr/>
        </p:nvSpPr>
        <p:spPr>
          <a:xfrm>
            <a:off x="8412480" y="1965960"/>
            <a:ext cx="1481328" cy="2468880"/>
          </a:xfrm>
          <a:prstGeom prst="roundRect">
            <a:avLst>
              <a:gd name="adj" fmla="val 7407"/>
            </a:avLst>
          </a:prstGeom>
          <a:solidFill>
            <a:schemeClr val="bg1"/>
          </a:solidFill>
          <a:ln w="9525">
            <a:solidFill>
              <a:srgbClr val="CDD5E3"/>
            </a:solidFill>
            <a:prstDash val="solid"/>
          </a:ln>
        </p:spPr>
      </p:sp>
      <p:sp>
        <p:nvSpPr>
          <p:cNvPr id="15" name="card-text-33"/>
          <p:cNvSpPr txBox="1"/>
          <p:nvPr/>
        </p:nvSpPr>
        <p:spPr>
          <a:xfrm>
            <a:off x="8577072" y="2148840"/>
            <a:ext cx="1060704" cy="2194560"/>
          </a:xfrm>
          <a:prstGeom prst="rect">
            <a:avLst/>
          </a:prstGeom>
          <a:noFill/>
          <a:ln/>
        </p:spPr>
        <p:txBody>
          <a:bodyPr wrap="square" lIns="0" tIns="0" rIns="0" bIns="0" rtlCol="0" anchor="t"/>
          <a:lstStyle/>
          <a:p>
            <a:pPr indent="0" marL="0">
              <a:spcAft>
                <a:spcPts val="400"/>
              </a:spcAft>
              <a:buNone/>
            </a:pPr>
            <a:r>
              <a:rPr lang="en-US" sz="2200" b="1" dirty="0">
                <a:solidFill>
                  <a:schemeClr val="accent1"/>
                </a:solidFill>
              </a:rPr>
              <a:t>6</a:t>
            </a:r>
            <a:endParaRPr lang="en-US" sz="2200" dirty="0"/>
          </a:p>
          <a:p>
            <a:pPr indent="0" marL="0">
              <a:spcAft>
                <a:spcPts val="600"/>
              </a:spcAft>
              <a:buNone/>
            </a:pPr>
            <a:r>
              <a:rPr lang="en-US" sz="1500" b="1" dirty="0">
                <a:solidFill>
                  <a:schemeClr val="tx1"/>
                </a:solidFill>
              </a:rPr>
              <a:t>Exams</a:t>
            </a:r>
            <a:endParaRPr lang="en-US" sz="2200" dirty="0"/>
          </a:p>
          <a:p>
            <a:pPr indent="0" marL="0">
              <a:buNone/>
            </a:pPr>
            <a:r>
              <a:rPr lang="en-US" sz="1300" dirty="0">
                <a:solidFill>
                  <a:schemeClr val="tx2"/>
                </a:solidFill>
              </a:rPr>
              <a:t>ISE, MSE, ESE, re-exams</a:t>
            </a:r>
            <a:endParaRPr lang="en-US" sz="2200" dirty="0"/>
          </a:p>
        </p:txBody>
      </p:sp>
      <p:sp>
        <p:nvSpPr>
          <p:cNvPr id="16" name="card-34"/>
          <p:cNvSpPr/>
          <p:nvPr/>
        </p:nvSpPr>
        <p:spPr>
          <a:xfrm>
            <a:off x="9985248" y="1965960"/>
            <a:ext cx="1481328" cy="2468880"/>
          </a:xfrm>
          <a:prstGeom prst="roundRect">
            <a:avLst>
              <a:gd name="adj" fmla="val 7407"/>
            </a:avLst>
          </a:prstGeom>
          <a:solidFill>
            <a:schemeClr val="accent2"/>
          </a:solidFill>
          <a:ln/>
        </p:spPr>
      </p:sp>
      <p:sp>
        <p:nvSpPr>
          <p:cNvPr id="17" name="card-text-35"/>
          <p:cNvSpPr txBox="1"/>
          <p:nvPr/>
        </p:nvSpPr>
        <p:spPr>
          <a:xfrm>
            <a:off x="10149840" y="2148840"/>
            <a:ext cx="1060704" cy="2194560"/>
          </a:xfrm>
          <a:prstGeom prst="rect">
            <a:avLst/>
          </a:prstGeom>
          <a:noFill/>
          <a:ln/>
        </p:spPr>
        <p:txBody>
          <a:bodyPr wrap="square" lIns="0" tIns="0" rIns="0" bIns="0" rtlCol="0" anchor="t"/>
          <a:lstStyle/>
          <a:p>
            <a:pPr indent="0" marL="0">
              <a:spcAft>
                <a:spcPts val="400"/>
              </a:spcAft>
              <a:buNone/>
            </a:pPr>
            <a:r>
              <a:rPr lang="en-US" sz="2200" b="1" dirty="0">
                <a:solidFill>
                  <a:srgbClr val="FFE7D6"/>
                </a:solidFill>
              </a:rPr>
              <a:t>7</a:t>
            </a:r>
            <a:endParaRPr lang="en-US" sz="2200" dirty="0"/>
          </a:p>
          <a:p>
            <a:pPr indent="0" marL="0">
              <a:spcAft>
                <a:spcPts val="600"/>
              </a:spcAft>
              <a:buNone/>
            </a:pPr>
            <a:r>
              <a:rPr lang="en-US" sz="1500" b="1" dirty="0">
                <a:solidFill>
                  <a:schemeClr val="bg1"/>
                </a:solidFill>
              </a:rPr>
              <a:t>Results</a:t>
            </a:r>
            <a:endParaRPr lang="en-US" sz="2200" dirty="0"/>
          </a:p>
          <a:p>
            <a:pPr indent="0" marL="0">
              <a:buNone/>
            </a:pPr>
            <a:r>
              <a:rPr lang="en-US" sz="1300" dirty="0">
                <a:solidFill>
                  <a:srgbClr val="FFF3EA"/>
                </a:solidFill>
              </a:rPr>
              <a:t>Gradebook, CIE report, CO attainment</a:t>
            </a:r>
            <a:endParaRPr lang="en-US" sz="2200" dirty="0"/>
          </a:p>
        </p:txBody>
      </p:sp>
      <p:sp>
        <p:nvSpPr>
          <p:cNvPr id="18" name="statement-36"/>
          <p:cNvSpPr txBox="1"/>
          <p:nvPr/>
        </p:nvSpPr>
        <p:spPr>
          <a:xfrm>
            <a:off x="548640" y="4846320"/>
            <a:ext cx="10972800" cy="731520"/>
          </a:xfrm>
          <a:prstGeom prst="rect">
            <a:avLst/>
          </a:prstGeom>
          <a:noFill/>
          <a:ln/>
        </p:spPr>
        <p:txBody>
          <a:bodyPr wrap="square" lIns="0" tIns="0" rIns="0" bIns="0" rtlCol="0" anchor="ctr"/>
          <a:lstStyle/>
          <a:p>
            <a:pPr indent="0" marL="0">
              <a:buNone/>
            </a:pPr>
            <a:r>
              <a:rPr lang="en-US" sz="2000" i="1" dirty="0">
                <a:solidFill>
                  <a:schemeClr val="tx1"/>
                </a:solidFill>
                <a:latin typeface="Cambria" pitchFamily="34" charset="0"/>
                <a:ea typeface="Cambria" pitchFamily="34" charset="-122"/>
                <a:cs typeface="Cambria" pitchFamily="34" charset="-120"/>
              </a:rPr>
              <a:t>Enter information once. Marks, attendance and outcomes are computed — not re-typed.</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COURSE SETUP</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Upload the syllabus. The course builds itself.</a:t>
            </a:r>
            <a:endParaRPr lang="en-US" sz="3200" dirty="0"/>
          </a:p>
        </p:txBody>
      </p:sp>
      <p:sp>
        <p:nvSpPr>
          <p:cNvPr id="4" name="stat-37"/>
          <p:cNvSpPr txBox="1"/>
          <p:nvPr/>
        </p:nvSpPr>
        <p:spPr>
          <a:xfrm>
            <a:off x="548640" y="1874520"/>
            <a:ext cx="2103120" cy="1463040"/>
          </a:xfrm>
          <a:prstGeom prst="rect">
            <a:avLst/>
          </a:prstGeom>
          <a:noFill/>
          <a:ln/>
        </p:spPr>
        <p:txBody>
          <a:bodyPr wrap="square" lIns="0" tIns="0" rIns="0" bIns="0" rtlCol="0" anchor="t"/>
          <a:lstStyle/>
          <a:p>
            <a:pPr indent="0" marL="0">
              <a:buNone/>
            </a:pPr>
            <a:r>
              <a:rPr lang="en-US" sz="4400" b="1" dirty="0">
                <a:solidFill>
                  <a:schemeClr val="accent1"/>
                </a:solidFill>
              </a:rPr>
              <a:t>45</a:t>
            </a:r>
            <a:endParaRPr lang="en-US" sz="4400" dirty="0"/>
          </a:p>
          <a:p>
            <a:pPr indent="0" marL="0">
              <a:buNone/>
            </a:pPr>
            <a:r>
              <a:rPr lang="en-US" sz="1400" dirty="0">
                <a:solidFill>
                  <a:schemeClr val="tx2"/>
                </a:solidFill>
              </a:rPr>
              <a:t>planned sessions (36 lectures + 9 labs)</a:t>
            </a:r>
            <a:endParaRPr lang="en-US" sz="4400" dirty="0"/>
          </a:p>
        </p:txBody>
      </p:sp>
      <p:sp>
        <p:nvSpPr>
          <p:cNvPr id="5" name="stat-38"/>
          <p:cNvSpPr txBox="1"/>
          <p:nvPr/>
        </p:nvSpPr>
        <p:spPr>
          <a:xfrm>
            <a:off x="2788920" y="1874520"/>
            <a:ext cx="2103120" cy="1463040"/>
          </a:xfrm>
          <a:prstGeom prst="rect">
            <a:avLst/>
          </a:prstGeom>
          <a:noFill/>
          <a:ln/>
        </p:spPr>
        <p:txBody>
          <a:bodyPr wrap="square" lIns="0" tIns="0" rIns="0" bIns="0" rtlCol="0" anchor="t"/>
          <a:lstStyle/>
          <a:p>
            <a:pPr indent="0" marL="0">
              <a:buNone/>
            </a:pPr>
            <a:r>
              <a:rPr lang="en-US" sz="4400" b="1" dirty="0">
                <a:solidFill>
                  <a:schemeClr val="accent1"/>
                </a:solidFill>
              </a:rPr>
              <a:t>93</a:t>
            </a:r>
            <a:endParaRPr lang="en-US" sz="4400" dirty="0"/>
          </a:p>
          <a:p>
            <a:pPr indent="0" marL="0">
              <a:buNone/>
            </a:pPr>
            <a:r>
              <a:rPr lang="en-US" sz="1400" dirty="0">
                <a:solidFill>
                  <a:schemeClr val="tx2"/>
                </a:solidFill>
              </a:rPr>
              <a:t>exam questions, CO and Bloom tagged</a:t>
            </a:r>
            <a:endParaRPr lang="en-US" sz="4400" dirty="0"/>
          </a:p>
        </p:txBody>
      </p:sp>
      <p:sp>
        <p:nvSpPr>
          <p:cNvPr id="6" name="stat-39"/>
          <p:cNvSpPr txBox="1"/>
          <p:nvPr/>
        </p:nvSpPr>
        <p:spPr>
          <a:xfrm>
            <a:off x="548640" y="3474720"/>
            <a:ext cx="2103120" cy="1463040"/>
          </a:xfrm>
          <a:prstGeom prst="rect">
            <a:avLst/>
          </a:prstGeom>
          <a:noFill/>
          <a:ln/>
        </p:spPr>
        <p:txBody>
          <a:bodyPr wrap="square" lIns="0" tIns="0" rIns="0" bIns="0" rtlCol="0" anchor="t"/>
          <a:lstStyle/>
          <a:p>
            <a:pPr indent="0" marL="0">
              <a:buNone/>
            </a:pPr>
            <a:r>
              <a:rPr lang="en-US" sz="4400" b="1" dirty="0">
                <a:solidFill>
                  <a:schemeClr val="accent1"/>
                </a:solidFill>
              </a:rPr>
              <a:t>6</a:t>
            </a:r>
            <a:endParaRPr lang="en-US" sz="4400" dirty="0"/>
          </a:p>
          <a:p>
            <a:pPr indent="0" marL="0">
              <a:buNone/>
            </a:pPr>
            <a:r>
              <a:rPr lang="en-US" sz="1400" dirty="0">
                <a:solidFill>
                  <a:schemeClr val="tx2"/>
                </a:solidFill>
              </a:rPr>
              <a:t>draft assignments with rubrics</a:t>
            </a:r>
            <a:endParaRPr lang="en-US" sz="4400" dirty="0"/>
          </a:p>
        </p:txBody>
      </p:sp>
      <p:sp>
        <p:nvSpPr>
          <p:cNvPr id="7" name="stat-40"/>
          <p:cNvSpPr txBox="1"/>
          <p:nvPr/>
        </p:nvSpPr>
        <p:spPr>
          <a:xfrm>
            <a:off x="2788920" y="3474720"/>
            <a:ext cx="2103120" cy="1463040"/>
          </a:xfrm>
          <a:prstGeom prst="rect">
            <a:avLst/>
          </a:prstGeom>
          <a:noFill/>
          <a:ln/>
        </p:spPr>
        <p:txBody>
          <a:bodyPr wrap="square" lIns="0" tIns="0" rIns="0" bIns="0" rtlCol="0" anchor="t"/>
          <a:lstStyle/>
          <a:p>
            <a:pPr indent="0" marL="0">
              <a:buNone/>
            </a:pPr>
            <a:r>
              <a:rPr lang="en-US" sz="4400" b="1" dirty="0">
                <a:solidFill>
                  <a:schemeClr val="accent1"/>
                </a:solidFill>
              </a:rPr>
              <a:t>2</a:t>
            </a:r>
            <a:endParaRPr lang="en-US" sz="4400" dirty="0"/>
          </a:p>
          <a:p>
            <a:pPr indent="0" marL="0">
              <a:buNone/>
            </a:pPr>
            <a:r>
              <a:rPr lang="en-US" sz="1400" dirty="0">
                <a:solidFill>
                  <a:schemeClr val="tx2"/>
                </a:solidFill>
              </a:rPr>
              <a:t>draft papers: MSE and ESE</a:t>
            </a:r>
            <a:endParaRPr lang="en-US" sz="4400" dirty="0"/>
          </a:p>
        </p:txBody>
      </p:sp>
      <p:sp>
        <p:nvSpPr>
          <p:cNvPr id="8" name="caption-41"/>
          <p:cNvSpPr txBox="1"/>
          <p:nvPr/>
        </p:nvSpPr>
        <p:spPr>
          <a:xfrm>
            <a:off x="548640" y="5257800"/>
            <a:ext cx="4297680" cy="731520"/>
          </a:xfrm>
          <a:prstGeom prst="rect">
            <a:avLst/>
          </a:prstGeom>
          <a:noFill/>
          <a:ln/>
        </p:spPr>
        <p:txBody>
          <a:bodyPr wrap="square" lIns="0" tIns="0" rIns="0" bIns="0" rtlCol="0" anchor="ctr"/>
          <a:lstStyle/>
          <a:p>
            <a:pPr indent="0" marL="0">
              <a:buNone/>
            </a:pPr>
            <a:r>
              <a:rPr lang="en-US" sz="1200" dirty="0">
                <a:solidFill>
                  <a:schemeClr val="tx2"/>
                </a:solidFill>
              </a:rPr>
              <a:t>Generated for a sample Data Structures syllabus. Accepts PDF, Word (.doc/.docx) or pasted text.</a:t>
            </a:r>
            <a:endParaRPr lang="en-US" sz="1200" dirty="0"/>
          </a:p>
        </p:txBody>
      </p:sp>
      <p:sp>
        <p:nvSpPr>
          <p:cNvPr id="9" name="frame-42"/>
          <p:cNvSpPr/>
          <p:nvPr/>
        </p:nvSpPr>
        <p:spPr>
          <a:xfrm>
            <a:off x="5166360" y="1783080"/>
            <a:ext cx="6492240" cy="4343400"/>
          </a:xfrm>
          <a:prstGeom prst="rect">
            <a:avLst/>
          </a:prstGeom>
          <a:solidFill>
            <a:schemeClr val="bg1"/>
          </a:solidFill>
          <a:ln w="9525">
            <a:solidFill>
              <a:srgbClr val="CDD5E3"/>
            </a:solidFill>
            <a:prstDash val="solid"/>
          </a:ln>
        </p:spPr>
      </p:sp>
      <p:pic>
        <p:nvPicPr>
          <p:cNvPr id="10" name="screenshot-43" descr="Review screen showing the course code, outcomes and units extracted from an uploaded syllabus">    </p:cNvPr>
          <p:cNvPicPr>
            <a:picLocks noChangeAspect="1"/>
          </p:cNvPicPr>
          <p:nvPr/>
        </p:nvPicPr>
        <p:blipFill>
          <a:blip r:embed="rId1"/>
          <a:srcRect l="0" r="0" t="0" b="0"/>
          <a:stretch/>
        </p:blipFill>
        <p:spPr>
          <a:xfrm>
            <a:off x="5212080" y="1828800"/>
            <a:ext cx="6400800" cy="42519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WORKS WITH WHAT TEACHERS ALREADY HAVE</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Existing lesson plans are imported as they are</a:t>
            </a:r>
            <a:endParaRPr lang="en-US" sz="3200" dirty="0"/>
          </a:p>
        </p:txBody>
      </p:sp>
      <p:sp>
        <p:nvSpPr>
          <p:cNvPr id="4" name="card-44"/>
          <p:cNvSpPr/>
          <p:nvPr/>
        </p:nvSpPr>
        <p:spPr>
          <a:xfrm>
            <a:off x="548640" y="1874520"/>
            <a:ext cx="5120640" cy="2834640"/>
          </a:xfrm>
          <a:prstGeom prst="roundRect">
            <a:avLst>
              <a:gd name="adj" fmla="val 3871"/>
            </a:avLst>
          </a:prstGeom>
          <a:solidFill>
            <a:schemeClr val="bg1"/>
          </a:solidFill>
          <a:ln w="9525">
            <a:solidFill>
              <a:srgbClr val="CDD5E3"/>
            </a:solidFill>
            <a:prstDash val="solid"/>
          </a:ln>
        </p:spPr>
      </p:sp>
      <p:sp>
        <p:nvSpPr>
          <p:cNvPr id="5" name="lp-in-45"/>
          <p:cNvSpPr txBox="1"/>
          <p:nvPr/>
        </p:nvSpPr>
        <p:spPr>
          <a:xfrm>
            <a:off x="777240" y="2011680"/>
            <a:ext cx="4663440" cy="411480"/>
          </a:xfrm>
          <a:prstGeom prst="rect">
            <a:avLst/>
          </a:prstGeom>
          <a:noFill/>
          <a:ln/>
        </p:spPr>
        <p:txBody>
          <a:bodyPr wrap="square" lIns="0" tIns="0" rIns="0" bIns="0" rtlCol="0" anchor="ctr"/>
          <a:lstStyle/>
          <a:p>
            <a:pPr indent="0" marL="0">
              <a:buNone/>
            </a:pPr>
            <a:r>
              <a:rPr lang="en-US" sz="1700" b="1" dirty="0">
                <a:solidFill>
                  <a:schemeClr val="tx1"/>
                </a:solidFill>
              </a:rPr>
              <a:t>In: the Word lesson plan (MEC702)</a:t>
            </a:r>
            <a:endParaRPr lang="en-US" sz="1700" dirty="0"/>
          </a:p>
        </p:txBody>
      </p:sp>
      <p:graphicFrame>
        <p:nvGraphicFramePr>
          <p:cNvPr id="6" name="lp-table-46"/>
          <p:cNvGraphicFramePr>
            <a:graphicFrameLocks noGrp="1"/>
          </p:cNvGraphicFramePr>
          <p:nvPr>
            <p:extLst>
              <p:ext uri="{D42A27DB-BD31-4B8C-83A1-F6EECF244321}">
                <p14:modId xmlns:p14="http://schemas.microsoft.com/office/powerpoint/2010/main" val="1579011935"/>
              </p:ext>
            </p:extLst>
          </p:nvPr>
        </p:nvGraphicFramePr>
        <p:xfrm>
          <a:off x="777240" y="2514600"/>
          <a:ext cx="4663440" cy="914400"/>
        </p:xfrm>
        <a:graphic>
          <a:graphicData uri="http://schemas.openxmlformats.org/drawingml/2006/table">
            <a:tbl>
              <a:tblPr/>
              <a:tblGrid>
                <a:gridCol w="457200"/>
                <a:gridCol w="1463040"/>
                <a:gridCol w="2194560"/>
                <a:gridCol w="548640"/>
              </a:tblGrid>
              <a:tr h="0">
                <a:tc>
                  <a:txBody>
                    <a:bodyPr/>
                    <a:lstStyle/>
                    <a:p>
                      <a:pPr indent="0" marL="0">
                        <a:buNone/>
                      </a:pPr>
                      <a:r>
                        <a:rPr lang="en-US" sz="1200" b="1" dirty="0">
                          <a:solidFill>
                            <a:schemeClr val="tx1"/>
                          </a:solidFill>
                        </a:rPr>
                        <a:t>Sr.</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Proposed date</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Topics</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CO</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2"/>
                          </a:solidFill>
                        </a:rPr>
                        <a:t>3</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c>
                  <a:txBody>
                    <a:bodyPr/>
                    <a:lstStyle/>
                    <a:p>
                      <a:pPr indent="0" marL="0">
                        <a:buNone/>
                      </a:pPr>
                      <a:r>
                        <a:rPr lang="en-US" sz="1200" dirty="0">
                          <a:solidFill>
                            <a:schemeClr val="tx2"/>
                          </a:solidFill>
                        </a:rPr>
                        <a:t>22/7 (1) 26/7 (2)</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c>
                  <a:txBody>
                    <a:bodyPr/>
                    <a:lstStyle/>
                    <a:p>
                      <a:pPr indent="0" marL="0">
                        <a:buNone/>
                      </a:pPr>
                      <a:r>
                        <a:rPr lang="en-US" sz="1200" dirty="0">
                          <a:solidFill>
                            <a:schemeClr val="tx2"/>
                          </a:solidFill>
                        </a:rPr>
                        <a:t>2.1 Supply chain performance</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c>
                  <a:txBody>
                    <a:bodyPr/>
                    <a:lstStyle/>
                    <a:p>
                      <a:pPr indent="0" marL="0">
                        <a:buNone/>
                      </a:pPr>
                      <a:r>
                        <a:rPr lang="en-US" sz="1200" dirty="0">
                          <a:solidFill>
                            <a:schemeClr val="tx2"/>
                          </a:solidFill>
                        </a:rPr>
                        <a:t>CO2</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r>
              <a:tr h="0">
                <a:tc>
                  <a:txBody>
                    <a:bodyPr/>
                    <a:lstStyle/>
                    <a:p>
                      <a:pPr indent="0" marL="0">
                        <a:buNone/>
                      </a:pP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c>
                  <a:txBody>
                    <a:bodyPr/>
                    <a:lstStyle/>
                    <a:p>
                      <a:pPr indent="0" marL="0">
                        <a:buNone/>
                      </a:pPr>
                      <a:r>
                        <a:rPr lang="en-US" sz="1200" dirty="0">
                          <a:solidFill>
                            <a:schemeClr val="tx2"/>
                          </a:solidFill>
                        </a:rPr>
                        <a:t>15/8</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c>
                  <a:txBody>
                    <a:bodyPr/>
                    <a:lstStyle/>
                    <a:p>
                      <a:pPr indent="0" marL="0">
                        <a:buNone/>
                      </a:pPr>
                      <a:r>
                        <a:rPr lang="en-US" sz="1200" dirty="0">
                          <a:solidFill>
                            <a:schemeClr val="tx2"/>
                          </a:solidFill>
                        </a:rPr>
                        <a:t>Independence Day</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r>
              <a:tr h="0">
                <a:tc>
                  <a:txBody>
                    <a:bodyPr/>
                    <a:lstStyle/>
                    <a:p>
                      <a:pPr indent="0" marL="0">
                        <a:buNone/>
                      </a:pP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c>
                  <a:txBody>
                    <a:bodyPr/>
                    <a:lstStyle/>
                    <a:p>
                      <a:pPr indent="0" marL="0">
                        <a:buNone/>
                      </a:pPr>
                      <a:r>
                        <a:rPr lang="en-US" sz="1200" dirty="0">
                          <a:solidFill>
                            <a:schemeClr val="tx2"/>
                          </a:solidFill>
                        </a:rPr>
                        <a:t>12/9</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c>
                  <a:txBody>
                    <a:bodyPr/>
                    <a:lstStyle/>
                    <a:p>
                      <a:pPr indent="0" marL="0">
                        <a:buNone/>
                      </a:pPr>
                      <a:r>
                        <a:rPr lang="en-US" sz="1200" dirty="0">
                          <a:solidFill>
                            <a:schemeClr val="tx2"/>
                          </a:solidFill>
                        </a:rPr>
                        <a:t>Mid Semester Exam</a:t>
                      </a: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c>
                  <a:txBody>
                    <a:bodyPr/>
                    <a:lstStyle/>
                    <a:p>
                      <a:pPr indent="0" marL="0">
                        <a:buNone/>
                      </a:pPr>
                      <a:endParaRPr lang="en-US" sz="1200" dirty="0"/>
                    </a:p>
                  </a:txBody>
                  <a:tcPr marL="91440" marR="91440" marT="45720" marB="45720">
                    <a:lnL w="6350" cap="flat" cmpd="sng" algn="ctr">
                      <a:solidFill>
                        <a:srgbClr val="CDD5E3"/>
                      </a:solidFill>
                      <a:prstDash val="solid"/>
                      <a:round/>
                      <a:headEnd type="none" w="med" len="med"/>
                      <a:tailEnd type="none" w="med" len="med"/>
                    </a:lnL>
                    <a:lnR w="6350" cap="flat" cmpd="sng" algn="ctr">
                      <a:solidFill>
                        <a:srgbClr val="CDD5E3"/>
                      </a:solidFill>
                      <a:prstDash val="solid"/>
                      <a:round/>
                      <a:headEnd type="none" w="med" len="med"/>
                      <a:tailEnd type="none" w="med" len="med"/>
                    </a:lnR>
                    <a:lnT w="6350" cap="flat" cmpd="sng" algn="ctr">
                      <a:solidFill>
                        <a:srgbClr val="CDD5E3"/>
                      </a:solidFill>
                      <a:prstDash val="solid"/>
                      <a:round/>
                      <a:headEnd type="none" w="med" len="med"/>
                      <a:tailEnd type="none" w="med" len="med"/>
                    </a:lnT>
                    <a:lnB w="6350" cap="flat" cmpd="sng" algn="ctr">
                      <a:solidFill>
                        <a:srgbClr val="CDD5E3"/>
                      </a:solidFill>
                      <a:prstDash val="solid"/>
                      <a:round/>
                      <a:headEnd type="none" w="med" len="med"/>
                      <a:tailEnd type="none" w="med" len="med"/>
                    </a:lnB>
                  </a:tcPr>
                </a:tc>
              </a:tr>
            </a:tbl>
          </a:graphicData>
        </a:graphic>
      </p:graphicFrame>
      <p:sp>
        <p:nvSpPr>
          <p:cNvPr id="7" name="arrow-47"/>
          <p:cNvSpPr/>
          <p:nvPr/>
        </p:nvSpPr>
        <p:spPr>
          <a:xfrm>
            <a:off x="5806440" y="3017520"/>
            <a:ext cx="640080" cy="502920"/>
          </a:xfrm>
          <a:prstGeom prst="rightArrow">
            <a:avLst/>
          </a:prstGeom>
          <a:solidFill>
            <a:schemeClr val="accent1"/>
          </a:solidFill>
          <a:ln/>
        </p:spPr>
      </p:sp>
      <p:sp>
        <p:nvSpPr>
          <p:cNvPr id="8" name="card-48"/>
          <p:cNvSpPr/>
          <p:nvPr/>
        </p:nvSpPr>
        <p:spPr>
          <a:xfrm>
            <a:off x="6583680" y="1874520"/>
            <a:ext cx="5029200" cy="2834640"/>
          </a:xfrm>
          <a:prstGeom prst="roundRect">
            <a:avLst>
              <a:gd name="adj" fmla="val 3871"/>
            </a:avLst>
          </a:prstGeom>
          <a:solidFill>
            <a:schemeClr val="tx1"/>
          </a:solidFill>
          <a:ln/>
        </p:spPr>
      </p:sp>
      <p:sp>
        <p:nvSpPr>
          <p:cNvPr id="9" name="lp-stat-49"/>
          <p:cNvSpPr txBox="1"/>
          <p:nvPr/>
        </p:nvSpPr>
        <p:spPr>
          <a:xfrm>
            <a:off x="6858000" y="2057400"/>
            <a:ext cx="2194560" cy="1143000"/>
          </a:xfrm>
          <a:prstGeom prst="rect">
            <a:avLst/>
          </a:prstGeom>
          <a:noFill/>
          <a:ln/>
        </p:spPr>
        <p:txBody>
          <a:bodyPr wrap="square" lIns="0" tIns="0" rIns="0" bIns="0" rtlCol="0" anchor="t"/>
          <a:lstStyle/>
          <a:p>
            <a:pPr indent="0" marL="0">
              <a:buNone/>
            </a:pPr>
            <a:r>
              <a:rPr lang="en-US" sz="3600" b="1" dirty="0">
                <a:solidFill>
                  <a:schemeClr val="accent3"/>
                </a:solidFill>
              </a:rPr>
              <a:t>50</a:t>
            </a:r>
            <a:endParaRPr lang="en-US" sz="3600" dirty="0"/>
          </a:p>
          <a:p>
            <a:pPr indent="0" marL="0">
              <a:buNone/>
            </a:pPr>
            <a:r>
              <a:rPr lang="en-US" sz="1300" dirty="0">
                <a:solidFill>
                  <a:schemeClr val="accent5"/>
                </a:solidFill>
              </a:rPr>
              <a:t>sessions from 17 rows</a:t>
            </a:r>
            <a:endParaRPr lang="en-US" sz="3600" dirty="0"/>
          </a:p>
        </p:txBody>
      </p:sp>
      <p:sp>
        <p:nvSpPr>
          <p:cNvPr id="10" name="lp-stat-50"/>
          <p:cNvSpPr txBox="1"/>
          <p:nvPr/>
        </p:nvSpPr>
        <p:spPr>
          <a:xfrm>
            <a:off x="9235440" y="2057400"/>
            <a:ext cx="2194560" cy="1143000"/>
          </a:xfrm>
          <a:prstGeom prst="rect">
            <a:avLst/>
          </a:prstGeom>
          <a:noFill/>
          <a:ln/>
        </p:spPr>
        <p:txBody>
          <a:bodyPr wrap="square" lIns="0" tIns="0" rIns="0" bIns="0" rtlCol="0" anchor="t"/>
          <a:lstStyle/>
          <a:p>
            <a:pPr indent="0" marL="0">
              <a:buNone/>
            </a:pPr>
            <a:r>
              <a:rPr lang="en-US" sz="3600" b="1" dirty="0">
                <a:solidFill>
                  <a:schemeClr val="accent3"/>
                </a:solidFill>
              </a:rPr>
              <a:t>7</a:t>
            </a:r>
            <a:endParaRPr lang="en-US" sz="3600" dirty="0"/>
          </a:p>
          <a:p>
            <a:pPr indent="0" marL="0">
              <a:buNone/>
            </a:pPr>
            <a:r>
              <a:rPr lang="en-US" sz="1300" dirty="0">
                <a:solidFill>
                  <a:schemeClr val="accent5"/>
                </a:solidFill>
              </a:rPr>
              <a:t>units from 1.1 / 2.1 numbering</a:t>
            </a:r>
            <a:endParaRPr lang="en-US" sz="3600" dirty="0"/>
          </a:p>
        </p:txBody>
      </p:sp>
      <p:sp>
        <p:nvSpPr>
          <p:cNvPr id="11" name="lp-stat-51"/>
          <p:cNvSpPr txBox="1"/>
          <p:nvPr/>
        </p:nvSpPr>
        <p:spPr>
          <a:xfrm>
            <a:off x="6858000" y="3337560"/>
            <a:ext cx="2194560" cy="1143000"/>
          </a:xfrm>
          <a:prstGeom prst="rect">
            <a:avLst/>
          </a:prstGeom>
          <a:noFill/>
          <a:ln/>
        </p:spPr>
        <p:txBody>
          <a:bodyPr wrap="square" lIns="0" tIns="0" rIns="0" bIns="0" rtlCol="0" anchor="t"/>
          <a:lstStyle/>
          <a:p>
            <a:pPr indent="0" marL="0">
              <a:buNone/>
            </a:pPr>
            <a:r>
              <a:rPr lang="en-US" sz="3600" b="1" dirty="0">
                <a:solidFill>
                  <a:schemeClr val="accent3"/>
                </a:solidFill>
              </a:rPr>
              <a:t>6</a:t>
            </a:r>
            <a:endParaRPr lang="en-US" sz="3600" dirty="0"/>
          </a:p>
          <a:p>
            <a:pPr indent="0" marL="0">
              <a:buNone/>
            </a:pPr>
            <a:r>
              <a:rPr lang="en-US" sz="1300" dirty="0">
                <a:solidFill>
                  <a:schemeClr val="accent5"/>
                </a:solidFill>
              </a:rPr>
              <a:t>course outcomes kept</a:t>
            </a:r>
            <a:endParaRPr lang="en-US" sz="3600" dirty="0"/>
          </a:p>
        </p:txBody>
      </p:sp>
      <p:sp>
        <p:nvSpPr>
          <p:cNvPr id="12" name="lp-stat-52"/>
          <p:cNvSpPr txBox="1"/>
          <p:nvPr/>
        </p:nvSpPr>
        <p:spPr>
          <a:xfrm>
            <a:off x="9235440" y="3337560"/>
            <a:ext cx="2194560" cy="1143000"/>
          </a:xfrm>
          <a:prstGeom prst="rect">
            <a:avLst/>
          </a:prstGeom>
          <a:noFill/>
          <a:ln/>
        </p:spPr>
        <p:txBody>
          <a:bodyPr wrap="square" lIns="0" tIns="0" rIns="0" bIns="0" rtlCol="0" anchor="t"/>
          <a:lstStyle/>
          <a:p>
            <a:pPr indent="0" marL="0">
              <a:buNone/>
            </a:pPr>
            <a:r>
              <a:rPr lang="en-US" sz="3600" b="1" dirty="0">
                <a:solidFill>
                  <a:schemeClr val="accent3"/>
                </a:solidFill>
              </a:rPr>
              <a:t>3</a:t>
            </a:r>
            <a:endParaRPr lang="en-US" sz="3600" dirty="0"/>
          </a:p>
          <a:p>
            <a:pPr indent="0" marL="0">
              <a:buNone/>
            </a:pPr>
            <a:r>
              <a:rPr lang="en-US" sz="1300" dirty="0">
                <a:solidFill>
                  <a:schemeClr val="accent5"/>
                </a:solidFill>
              </a:rPr>
              <a:t>holiday and exam dates</a:t>
            </a:r>
            <a:endParaRPr lang="en-US" sz="3600" dirty="0"/>
          </a:p>
        </p:txBody>
      </p:sp>
      <p:sp>
        <p:nvSpPr>
          <p:cNvPr id="13" name="statement-53"/>
          <p:cNvSpPr txBox="1"/>
          <p:nvPr/>
        </p:nvSpPr>
        <p:spPr>
          <a:xfrm>
            <a:off x="548640" y="5029200"/>
            <a:ext cx="10972800" cy="822960"/>
          </a:xfrm>
          <a:prstGeom prst="rect">
            <a:avLst/>
          </a:prstGeom>
          <a:noFill/>
          <a:ln/>
        </p:spPr>
        <p:txBody>
          <a:bodyPr wrap="square" lIns="0" tIns="0" rIns="0" bIns="0" rtlCol="0" anchor="ctr"/>
          <a:lstStyle/>
          <a:p>
            <a:pPr indent="0" marL="0">
              <a:buNone/>
            </a:pPr>
            <a:r>
              <a:rPr lang="en-US" sz="1800" i="1" dirty="0">
                <a:solidFill>
                  <a:schemeClr val="tx1"/>
                </a:solidFill>
                <a:latin typeface="Cambria" pitchFamily="34" charset="0"/>
                <a:ea typeface="Cambria" pitchFamily="34" charset="-122"/>
                <a:cs typeface="Cambria" pitchFamily="34" charset="-120"/>
              </a:rPr>
              <a:t>And back out: the plan exports in the same departmental format (.docx), with actual dates and Covered / Not covered filled in from real classes.</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LEARNING PLAN</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Every session has a purpose</a:t>
            </a:r>
            <a:endParaRPr lang="en-US" sz="3200" dirty="0"/>
          </a:p>
        </p:txBody>
      </p:sp>
      <p:sp>
        <p:nvSpPr>
          <p:cNvPr id="4" name="points-54"/>
          <p:cNvSpPr txBox="1"/>
          <p:nvPr/>
        </p:nvSpPr>
        <p:spPr>
          <a:xfrm>
            <a:off x="548640" y="1874520"/>
            <a:ext cx="4297680" cy="420624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chemeClr val="tx1"/>
                </a:solidFill>
              </a:rPr>
              <a:t>Outcome-mapped: </a:t>
            </a:r>
            <a:pPr indent="0" marL="0">
              <a:buNone/>
            </a:pPr>
            <a:r>
              <a:rPr lang="en-US" sz="1600" dirty="0">
                <a:solidFill>
                  <a:schemeClr val="tx2"/>
                </a:solidFill>
              </a:rPr>
              <a:t>each session tied to a CO and a Bloom level that climbs through the unit</a:t>
            </a:r>
            <a:endParaRPr lang="en-US" sz="1600" dirty="0"/>
          </a:p>
          <a:p>
            <a:pPr marL="203200" indent="-203200">
              <a:spcAft>
                <a:spcPts val="1200"/>
              </a:spcAft>
              <a:buSzPct val="100000"/>
              <a:buChar char="•"/>
            </a:pPr>
            <a:r>
              <a:rPr lang="en-US" sz="1600" b="1" dirty="0">
                <a:solidFill>
                  <a:schemeClr val="tx1"/>
                </a:solidFill>
              </a:rPr>
              <a:t>Year-aware teaching: </a:t>
            </a:r>
            <a:pPr indent="0" marL="0">
              <a:buNone/>
            </a:pPr>
            <a:r>
              <a:rPr lang="en-US" sz="1600" dirty="0">
                <a:solidFill>
                  <a:schemeClr val="tx2"/>
                </a:solidFill>
              </a:rPr>
              <a:t>demos for first years, PBL and case studies for final years</a:t>
            </a:r>
            <a:endParaRPr lang="en-US" sz="1600" dirty="0"/>
          </a:p>
          <a:p>
            <a:pPr marL="203200" indent="-203200">
              <a:spcAft>
                <a:spcPts val="1200"/>
              </a:spcAft>
              <a:buSzPct val="100000"/>
              <a:buChar char="•"/>
            </a:pPr>
            <a:r>
              <a:rPr lang="en-US" sz="1600" b="1" dirty="0">
                <a:solidFill>
                  <a:schemeClr val="tx1"/>
                </a:solidFill>
              </a:rPr>
              <a:t>Modern tools suggested: </a:t>
            </a:r>
            <a:pPr indent="0" marL="0">
              <a:buNone/>
            </a:pPr>
            <a:r>
              <a:rPr lang="en-US" sz="1600" dirty="0">
                <a:solidFill>
                  <a:schemeClr val="tx2"/>
                </a:solidFill>
              </a:rPr>
              <a:t>Colab, MATLAB, Tinkercad, PhET, Virtual Labs, live polls</a:t>
            </a:r>
            <a:endParaRPr lang="en-US" sz="1600" dirty="0"/>
          </a:p>
          <a:p>
            <a:pPr marL="203200" indent="-203200">
              <a:spcAft>
                <a:spcPts val="1200"/>
              </a:spcAft>
              <a:buSzPct val="100000"/>
              <a:buChar char="•"/>
            </a:pPr>
            <a:r>
              <a:rPr lang="en-US" sz="1600" b="1" dirty="0">
                <a:solidFill>
                  <a:schemeClr val="tx1"/>
                </a:solidFill>
              </a:rPr>
              <a:t>Before, in and after class </a:t>
            </a:r>
            <a:pPr indent="0" marL="0">
              <a:buNone/>
            </a:pPr>
            <a:r>
              <a:rPr lang="en-US" sz="1600" dirty="0">
                <a:solidFill>
                  <a:schemeClr val="tx2"/>
                </a:solidFill>
              </a:rPr>
              <a:t>activities for each session</a:t>
            </a:r>
            <a:endParaRPr lang="en-US" sz="1600" dirty="0"/>
          </a:p>
        </p:txBody>
      </p:sp>
      <p:sp>
        <p:nvSpPr>
          <p:cNvPr id="5" name="frame-55"/>
          <p:cNvSpPr/>
          <p:nvPr/>
        </p:nvSpPr>
        <p:spPr>
          <a:xfrm>
            <a:off x="5166360" y="1783080"/>
            <a:ext cx="6492240" cy="4343400"/>
          </a:xfrm>
          <a:prstGeom prst="rect">
            <a:avLst/>
          </a:prstGeom>
          <a:solidFill>
            <a:schemeClr val="bg1"/>
          </a:solidFill>
          <a:ln w="9525">
            <a:solidFill>
              <a:srgbClr val="CDD5E3"/>
            </a:solidFill>
            <a:prstDash val="solid"/>
          </a:ln>
        </p:spPr>
      </p:sp>
      <p:pic>
        <p:nvPicPr>
          <p:cNvPr id="6" name="screenshot-56" descr="Learning plan table with dates, sessions, course outcomes, Bloom levels, pedagogy and suggested tools">    </p:cNvPr>
          <p:cNvPicPr>
            <a:picLocks noChangeAspect="1"/>
          </p:cNvPicPr>
          <p:nvPr/>
        </p:nvPicPr>
        <p:blipFill>
          <a:blip r:embed="rId1"/>
          <a:srcRect l="0" r="0" t="0" b="0"/>
          <a:stretch/>
        </p:blipFill>
        <p:spPr>
          <a:xfrm>
            <a:off x="5212080" y="1828800"/>
            <a:ext cx="6400800" cy="42519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TIMETABLE</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A schedule that absorbs surprises</a:t>
            </a:r>
            <a:endParaRPr lang="en-US" sz="3200" dirty="0"/>
          </a:p>
        </p:txBody>
      </p:sp>
      <p:sp>
        <p:nvSpPr>
          <p:cNvPr id="4" name="points-57"/>
          <p:cNvSpPr txBox="1"/>
          <p:nvPr/>
        </p:nvSpPr>
        <p:spPr>
          <a:xfrm>
            <a:off x="548640" y="1874520"/>
            <a:ext cx="4297680" cy="420624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chemeClr val="tx1"/>
                </a:solidFill>
              </a:rPr>
              <a:t>Sudden holiday: </a:t>
            </a:r>
            <a:pPr indent="0" marL="0">
              <a:buNone/>
            </a:pPr>
            <a:r>
              <a:rPr lang="en-US" sz="1600" dirty="0">
                <a:solidFill>
                  <a:schemeClr val="tx2"/>
                </a:solidFill>
              </a:rPr>
              <a:t>one entry cancels that day for all classes; every plan shifts forward</a:t>
            </a:r>
            <a:endParaRPr lang="en-US" sz="1600" dirty="0"/>
          </a:p>
          <a:p>
            <a:pPr marL="203200" indent="-203200">
              <a:spcAft>
                <a:spcPts val="1200"/>
              </a:spcAft>
              <a:buSzPct val="100000"/>
              <a:buChar char="•"/>
            </a:pPr>
            <a:r>
              <a:rPr lang="en-US" sz="1600" b="1" dirty="0">
                <a:solidFill>
                  <a:schemeClr val="tx1"/>
                </a:solidFill>
              </a:rPr>
              <a:t>Supplementary day: </a:t>
            </a:r>
            <a:pPr indent="0" marL="0">
              <a:buNone/>
            </a:pPr>
            <a:r>
              <a:rPr lang="en-US" sz="1600" dirty="0">
                <a:solidFill>
                  <a:schemeClr val="tx2"/>
                </a:solidFill>
              </a:rPr>
              <a:t>"Saturday follows Monday's timetable" pulls the plan back on track</a:t>
            </a:r>
            <a:endParaRPr lang="en-US" sz="1600" dirty="0"/>
          </a:p>
          <a:p>
            <a:pPr marL="203200" indent="-203200">
              <a:spcAft>
                <a:spcPts val="1200"/>
              </a:spcAft>
              <a:buSzPct val="100000"/>
              <a:buChar char="•"/>
            </a:pPr>
            <a:r>
              <a:rPr lang="en-US" sz="1600" b="1" dirty="0">
                <a:solidFill>
                  <a:schemeClr val="tx1"/>
                </a:solidFill>
              </a:rPr>
              <a:t>Reschedule a class </a:t>
            </a:r>
            <a:pPr indent="0" marL="0">
              <a:buNone/>
            </a:pPr>
            <a:r>
              <a:rPr lang="en-US" sz="1600" dirty="0">
                <a:solidFill>
                  <a:schemeClr val="tx2"/>
                </a:solidFill>
              </a:rPr>
              <a:t>to any date; the original stays on record</a:t>
            </a:r>
            <a:endParaRPr lang="en-US" sz="1600" dirty="0"/>
          </a:p>
          <a:p>
            <a:pPr marL="203200" indent="-203200">
              <a:spcAft>
                <a:spcPts val="1200"/>
              </a:spcAft>
              <a:buSzPct val="100000"/>
              <a:buChar char="•"/>
            </a:pPr>
            <a:r>
              <a:rPr lang="en-US" sz="1600" b="1" dirty="0">
                <a:solidFill>
                  <a:schemeClr val="tx1"/>
                </a:solidFill>
              </a:rPr>
              <a:t>Early warning </a:t>
            </a:r>
            <a:pPr indent="0" marL="0">
              <a:buNone/>
            </a:pPr>
            <a:r>
              <a:rPr lang="en-US" sz="1600" dirty="0">
                <a:solidFill>
                  <a:schemeClr val="tx2"/>
                </a:solidFill>
              </a:rPr>
              <a:t>when the syllabus no longer fits the remaining classes</a:t>
            </a:r>
            <a:endParaRPr lang="en-US" sz="1600" dirty="0"/>
          </a:p>
        </p:txBody>
      </p:sp>
      <p:sp>
        <p:nvSpPr>
          <p:cNvPr id="5" name="frame-58"/>
          <p:cNvSpPr/>
          <p:nvPr/>
        </p:nvSpPr>
        <p:spPr>
          <a:xfrm>
            <a:off x="5166360" y="1783080"/>
            <a:ext cx="6492240" cy="4343400"/>
          </a:xfrm>
          <a:prstGeom prst="rect">
            <a:avLst/>
          </a:prstGeom>
          <a:solidFill>
            <a:schemeClr val="bg1"/>
          </a:solidFill>
          <a:ln w="9525">
            <a:solidFill>
              <a:srgbClr val="CDD5E3"/>
            </a:solidFill>
            <a:prstDash val="solid"/>
          </a:ln>
        </p:spPr>
      </p:sp>
      <p:pic>
        <p:nvPicPr>
          <p:cNvPr id="6" name="screenshot-59" descr="Schedule changes page with holiday and supplementary-day form and a table showing whether each course's syllabus still fits">    </p:cNvPr>
          <p:cNvPicPr>
            <a:picLocks noChangeAspect="1"/>
          </p:cNvPicPr>
          <p:nvPr/>
        </p:nvPicPr>
        <p:blipFill>
          <a:blip r:embed="rId1"/>
          <a:srcRect l="0" r="0" t="0" b="0"/>
          <a:stretch/>
        </p:blipFill>
        <p:spPr>
          <a:xfrm>
            <a:off x="5212080" y="1828800"/>
            <a:ext cx="6400800" cy="42519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ATTENDANCE &amp; CLASS NOTES</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No more pending attendance pile</a:t>
            </a:r>
            <a:endParaRPr lang="en-US" sz="3200" dirty="0"/>
          </a:p>
        </p:txBody>
      </p:sp>
      <p:sp>
        <p:nvSpPr>
          <p:cNvPr id="4" name="points-60"/>
          <p:cNvSpPr txBox="1"/>
          <p:nvPr/>
        </p:nvSpPr>
        <p:spPr>
          <a:xfrm>
            <a:off x="548640" y="1874520"/>
            <a:ext cx="4297680" cy="420624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chemeClr val="tx1"/>
                </a:solidFill>
              </a:rPr>
              <a:t>Marked vs pending </a:t>
            </a:r>
            <a:pPr indent="0" marL="0">
              <a:buNone/>
            </a:pPr>
            <a:r>
              <a:rPr lang="en-US" sz="1600" dirty="0">
                <a:solidFill>
                  <a:schemeClr val="tx2"/>
                </a:solidFill>
              </a:rPr>
              <a:t>for every class, with take, delete or bulk delete</a:t>
            </a:r>
            <a:endParaRPr lang="en-US" sz="1600" dirty="0"/>
          </a:p>
          <a:p>
            <a:pPr marL="203200" indent="-203200">
              <a:spcAft>
                <a:spcPts val="1200"/>
              </a:spcAft>
              <a:buSzPct val="100000"/>
              <a:buChar char="•"/>
            </a:pPr>
            <a:r>
              <a:rPr lang="en-US" sz="1600" b="1" dirty="0">
                <a:solidFill>
                  <a:schemeClr val="tx1"/>
                </a:solidFill>
              </a:rPr>
              <a:t>One tap </a:t>
            </a:r>
            <a:pPr indent="0" marL="0">
              <a:buNone/>
            </a:pPr>
            <a:r>
              <a:rPr lang="en-US" sz="1600" dirty="0">
                <a:solidFill>
                  <a:schemeClr val="tx2"/>
                </a:solidFill>
              </a:rPr>
              <a:t>marks the class present; students can self check-in with a 6-digit code</a:t>
            </a:r>
            <a:endParaRPr lang="en-US" sz="1600" dirty="0"/>
          </a:p>
          <a:p>
            <a:pPr marL="203200" indent="-203200">
              <a:spcAft>
                <a:spcPts val="1200"/>
              </a:spcAft>
              <a:buSzPct val="100000"/>
              <a:buChar char="•"/>
            </a:pPr>
            <a:r>
              <a:rPr lang="en-US" sz="1600" b="1" dirty="0">
                <a:solidFill>
                  <a:schemeClr val="tx1"/>
                </a:solidFill>
              </a:rPr>
              <a:t>Notes and slides </a:t>
            </a:r>
            <a:pPr indent="0" marL="0">
              <a:buNone/>
            </a:pPr>
            <a:r>
              <a:rPr lang="en-US" sz="1600" dirty="0">
                <a:solidFill>
                  <a:schemeClr val="tx2"/>
                </a:solidFill>
              </a:rPr>
              <a:t>saved with the class and shared with students</a:t>
            </a:r>
            <a:endParaRPr lang="en-US" sz="1600" dirty="0"/>
          </a:p>
          <a:p>
            <a:pPr marL="203200" indent="-203200">
              <a:spcAft>
                <a:spcPts val="1200"/>
              </a:spcAft>
              <a:buSzPct val="100000"/>
              <a:buChar char="•"/>
            </a:pPr>
            <a:r>
              <a:rPr lang="en-US" sz="1600" b="1" dirty="0">
                <a:solidFill>
                  <a:schemeClr val="tx1"/>
                </a:solidFill>
              </a:rPr>
              <a:t>Below 75% </a:t>
            </a:r>
            <a:pPr indent="0" marL="0">
              <a:buNone/>
            </a:pPr>
            <a:r>
              <a:rPr lang="en-US" sz="1600" dirty="0">
                <a:solidFill>
                  <a:schemeClr val="tx2"/>
                </a:solidFill>
              </a:rPr>
              <a:t>students are flagged automatically</a:t>
            </a:r>
            <a:endParaRPr lang="en-US" sz="1600" dirty="0"/>
          </a:p>
        </p:txBody>
      </p:sp>
      <p:sp>
        <p:nvSpPr>
          <p:cNvPr id="5" name="frame-61"/>
          <p:cNvSpPr/>
          <p:nvPr/>
        </p:nvSpPr>
        <p:spPr>
          <a:xfrm>
            <a:off x="5166360" y="1783080"/>
            <a:ext cx="6492240" cy="4343400"/>
          </a:xfrm>
          <a:prstGeom prst="rect">
            <a:avLst/>
          </a:prstGeom>
          <a:solidFill>
            <a:schemeClr val="bg1"/>
          </a:solidFill>
          <a:ln w="9525">
            <a:solidFill>
              <a:srgbClr val="CDD5E3"/>
            </a:solidFill>
            <a:prstDash val="solid"/>
          </a:ln>
        </p:spPr>
      </p:sp>
      <p:pic>
        <p:nvPicPr>
          <p:cNvPr id="6" name="screenshot-62" descr="Attendance page with marked and pending counts per class and a list of pending classes with Take attendance and Delete buttons">    </p:cNvPr>
          <p:cNvPicPr>
            <a:picLocks noChangeAspect="1"/>
          </p:cNvPicPr>
          <p:nvPr/>
        </p:nvPicPr>
        <p:blipFill>
          <a:blip r:embed="rId1"/>
          <a:srcRect l="0" r="0" t="0" b="0"/>
          <a:stretch/>
        </p:blipFill>
        <p:spPr>
          <a:xfrm>
            <a:off x="5212080" y="1828800"/>
            <a:ext cx="6400800" cy="42519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CLASSROOM</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Google Classroom ease, rubric grading built in</a:t>
            </a:r>
            <a:endParaRPr lang="en-US" sz="3200" dirty="0"/>
          </a:p>
        </p:txBody>
      </p:sp>
      <p:sp>
        <p:nvSpPr>
          <p:cNvPr id="4" name="points-63"/>
          <p:cNvSpPr txBox="1"/>
          <p:nvPr/>
        </p:nvSpPr>
        <p:spPr>
          <a:xfrm>
            <a:off x="548640" y="1874520"/>
            <a:ext cx="4297680" cy="420624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chemeClr val="tx1"/>
                </a:solidFill>
              </a:rPr>
              <a:t>Students join </a:t>
            </a:r>
            <a:pPr indent="0" marL="0">
              <a:buNone/>
            </a:pPr>
            <a:r>
              <a:rPr lang="en-US" sz="1600" dirty="0">
                <a:solidFill>
                  <a:schemeClr val="tx2"/>
                </a:solidFill>
              </a:rPr>
              <a:t>with a class code and submit files or links (Colab, GitHub, Drive)</a:t>
            </a:r>
            <a:endParaRPr lang="en-US" sz="1600" dirty="0"/>
          </a:p>
          <a:p>
            <a:pPr marL="203200" indent="-203200">
              <a:spcAft>
                <a:spcPts val="1200"/>
              </a:spcAft>
              <a:buSzPct val="100000"/>
              <a:buChar char="•"/>
            </a:pPr>
            <a:r>
              <a:rPr lang="en-US" sz="1600" b="1" dirty="0">
                <a:solidFill>
                  <a:schemeClr val="tx1"/>
                </a:solidFill>
              </a:rPr>
              <a:t>Click rubric levels </a:t>
            </a:r>
            <a:pPr indent="0" marL="0">
              <a:buNone/>
            </a:pPr>
            <a:r>
              <a:rPr lang="en-US" sz="1600" dirty="0">
                <a:solidFill>
                  <a:schemeClr val="tx2"/>
                </a:solidFill>
              </a:rPr>
              <a:t>and the score adds up; type a total and it maps back onto the rubric</a:t>
            </a:r>
            <a:endParaRPr lang="en-US" sz="1600" dirty="0"/>
          </a:p>
          <a:p>
            <a:pPr marL="203200" indent="-203200">
              <a:spcAft>
                <a:spcPts val="1200"/>
              </a:spcAft>
              <a:buSzPct val="100000"/>
              <a:buChar char="•"/>
            </a:pPr>
            <a:r>
              <a:rPr lang="en-US" sz="1600" b="1" dirty="0">
                <a:solidFill>
                  <a:schemeClr val="tx1"/>
                </a:solidFill>
              </a:rPr>
              <a:t>Feedback returned </a:t>
            </a:r>
            <a:pPr indent="0" marL="0">
              <a:buNone/>
            </a:pPr>
            <a:r>
              <a:rPr lang="en-US" sz="1600" dirty="0">
                <a:solidFill>
                  <a:schemeClr val="tx2"/>
                </a:solidFill>
              </a:rPr>
              <a:t>to students criterion by criterion</a:t>
            </a:r>
            <a:endParaRPr lang="en-US" sz="1600" dirty="0"/>
          </a:p>
        </p:txBody>
      </p:sp>
      <p:sp>
        <p:nvSpPr>
          <p:cNvPr id="5" name="frame-64"/>
          <p:cNvSpPr/>
          <p:nvPr/>
        </p:nvSpPr>
        <p:spPr>
          <a:xfrm>
            <a:off x="5166360" y="1783080"/>
            <a:ext cx="6492240" cy="4343400"/>
          </a:xfrm>
          <a:prstGeom prst="rect">
            <a:avLst/>
          </a:prstGeom>
          <a:solidFill>
            <a:schemeClr val="bg1"/>
          </a:solidFill>
          <a:ln w="9525">
            <a:solidFill>
              <a:srgbClr val="CDD5E3"/>
            </a:solidFill>
            <a:prstDash val="solid"/>
          </a:ln>
        </p:spPr>
      </p:sp>
      <p:pic>
        <p:nvPicPr>
          <p:cNvPr id="6" name="screenshot-65" descr="Grading screen with rubric criteria, performance levels, a running total and feedback box">    </p:cNvPr>
          <p:cNvPicPr>
            <a:picLocks noChangeAspect="1"/>
          </p:cNvPicPr>
          <p:nvPr/>
        </p:nvPicPr>
        <p:blipFill>
          <a:blip r:embed="rId1"/>
          <a:srcRect l="0" r="0" t="0" b="0"/>
          <a:stretch/>
        </p:blipFill>
        <p:spPr>
          <a:xfrm>
            <a:off x="5212080" y="1828800"/>
            <a:ext cx="6400800" cy="42519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HOLISTIC ASSESSMENT FRAMEWORK</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ISE, MSE, term work and ESE in one weighted scheme</a:t>
            </a:r>
            <a:endParaRPr lang="en-US" sz="3200" dirty="0"/>
          </a:p>
        </p:txBody>
      </p:sp>
      <p:sp>
        <p:nvSpPr>
          <p:cNvPr id="4" name="weight-66"/>
          <p:cNvSpPr/>
          <p:nvPr/>
        </p:nvSpPr>
        <p:spPr>
          <a:xfrm>
            <a:off x="548640" y="1874520"/>
            <a:ext cx="1106424" cy="777240"/>
          </a:xfrm>
          <a:prstGeom prst="rect">
            <a:avLst/>
          </a:prstGeom>
          <a:solidFill>
            <a:srgbClr val="5B7FF0"/>
          </a:solidFill>
          <a:ln w="19050">
            <a:solidFill>
              <a:srgbClr val="FFFFFF"/>
            </a:solidFill>
            <a:prstDash val="solid"/>
          </a:ln>
        </p:spPr>
      </p:sp>
      <p:sp>
        <p:nvSpPr>
          <p:cNvPr id="5" name="weight-label-67"/>
          <p:cNvSpPr txBox="1"/>
          <p:nvPr/>
        </p:nvSpPr>
        <p:spPr>
          <a:xfrm>
            <a:off x="640080" y="1874520"/>
            <a:ext cx="923544" cy="777240"/>
          </a:xfrm>
          <a:prstGeom prst="rect">
            <a:avLst/>
          </a:prstGeom>
          <a:noFill/>
          <a:ln/>
        </p:spPr>
        <p:txBody>
          <a:bodyPr wrap="square" lIns="0" tIns="0" rIns="0" bIns="0" rtlCol="0" anchor="ctr"/>
          <a:lstStyle/>
          <a:p>
            <a:pPr indent="0" marL="0">
              <a:buNone/>
            </a:pPr>
            <a:r>
              <a:rPr lang="en-US" sz="1400" b="1" dirty="0">
                <a:solidFill>
                  <a:srgbClr val="FFFFFF"/>
                </a:solidFill>
              </a:rPr>
              <a:t>ISE-1 · 10%</a:t>
            </a:r>
            <a:endParaRPr lang="en-US" sz="1400" dirty="0"/>
          </a:p>
        </p:txBody>
      </p:sp>
      <p:sp>
        <p:nvSpPr>
          <p:cNvPr id="6" name="weight-68"/>
          <p:cNvSpPr/>
          <p:nvPr/>
        </p:nvSpPr>
        <p:spPr>
          <a:xfrm>
            <a:off x="1655064" y="1874520"/>
            <a:ext cx="2212848" cy="777240"/>
          </a:xfrm>
          <a:prstGeom prst="rect">
            <a:avLst/>
          </a:prstGeom>
          <a:solidFill>
            <a:schemeClr val="accent1"/>
          </a:solidFill>
          <a:ln w="19050">
            <a:solidFill>
              <a:srgbClr val="FFFFFF"/>
            </a:solidFill>
            <a:prstDash val="solid"/>
          </a:ln>
        </p:spPr>
      </p:sp>
      <p:sp>
        <p:nvSpPr>
          <p:cNvPr id="7" name="weight-label-69"/>
          <p:cNvSpPr txBox="1"/>
          <p:nvPr/>
        </p:nvSpPr>
        <p:spPr>
          <a:xfrm>
            <a:off x="1746504" y="1874520"/>
            <a:ext cx="2029968" cy="777240"/>
          </a:xfrm>
          <a:prstGeom prst="rect">
            <a:avLst/>
          </a:prstGeom>
          <a:noFill/>
          <a:ln/>
        </p:spPr>
        <p:txBody>
          <a:bodyPr wrap="square" lIns="0" tIns="0" rIns="0" bIns="0" rtlCol="0" anchor="ctr"/>
          <a:lstStyle/>
          <a:p>
            <a:pPr indent="0" marL="0">
              <a:buNone/>
            </a:pPr>
            <a:r>
              <a:rPr lang="en-US" sz="1400" b="1" dirty="0">
                <a:solidFill>
                  <a:srgbClr val="FFFFFF"/>
                </a:solidFill>
              </a:rPr>
              <a:t>MSE · 20%</a:t>
            </a:r>
            <a:endParaRPr lang="en-US" sz="1400" dirty="0"/>
          </a:p>
        </p:txBody>
      </p:sp>
      <p:sp>
        <p:nvSpPr>
          <p:cNvPr id="8" name="weight-70"/>
          <p:cNvSpPr/>
          <p:nvPr/>
        </p:nvSpPr>
        <p:spPr>
          <a:xfrm>
            <a:off x="3867912" y="1874520"/>
            <a:ext cx="1106424" cy="777240"/>
          </a:xfrm>
          <a:prstGeom prst="rect">
            <a:avLst/>
          </a:prstGeom>
          <a:solidFill>
            <a:srgbClr val="5B7FF0"/>
          </a:solidFill>
          <a:ln w="19050">
            <a:solidFill>
              <a:srgbClr val="FFFFFF"/>
            </a:solidFill>
            <a:prstDash val="solid"/>
          </a:ln>
        </p:spPr>
      </p:sp>
      <p:sp>
        <p:nvSpPr>
          <p:cNvPr id="9" name="weight-label-71"/>
          <p:cNvSpPr txBox="1"/>
          <p:nvPr/>
        </p:nvSpPr>
        <p:spPr>
          <a:xfrm>
            <a:off x="3959352" y="1874520"/>
            <a:ext cx="923544" cy="777240"/>
          </a:xfrm>
          <a:prstGeom prst="rect">
            <a:avLst/>
          </a:prstGeom>
          <a:noFill/>
          <a:ln/>
        </p:spPr>
        <p:txBody>
          <a:bodyPr wrap="square" lIns="0" tIns="0" rIns="0" bIns="0" rtlCol="0" anchor="ctr"/>
          <a:lstStyle/>
          <a:p>
            <a:pPr indent="0" marL="0">
              <a:buNone/>
            </a:pPr>
            <a:r>
              <a:rPr lang="en-US" sz="1400" b="1" dirty="0">
                <a:solidFill>
                  <a:srgbClr val="FFFFFF"/>
                </a:solidFill>
              </a:rPr>
              <a:t>ISE-2 · 10%</a:t>
            </a:r>
            <a:endParaRPr lang="en-US" sz="1400" dirty="0"/>
          </a:p>
        </p:txBody>
      </p:sp>
      <p:sp>
        <p:nvSpPr>
          <p:cNvPr id="10" name="weight-72"/>
          <p:cNvSpPr/>
          <p:nvPr/>
        </p:nvSpPr>
        <p:spPr>
          <a:xfrm>
            <a:off x="4974336" y="1874520"/>
            <a:ext cx="1106424" cy="777240"/>
          </a:xfrm>
          <a:prstGeom prst="rect">
            <a:avLst/>
          </a:prstGeom>
          <a:solidFill>
            <a:srgbClr val="3A4A6B"/>
          </a:solidFill>
          <a:ln w="19050">
            <a:solidFill>
              <a:srgbClr val="FFFFFF"/>
            </a:solidFill>
            <a:prstDash val="solid"/>
          </a:ln>
        </p:spPr>
      </p:sp>
      <p:sp>
        <p:nvSpPr>
          <p:cNvPr id="11" name="weight-label-73"/>
          <p:cNvSpPr txBox="1"/>
          <p:nvPr/>
        </p:nvSpPr>
        <p:spPr>
          <a:xfrm>
            <a:off x="5065776" y="1874520"/>
            <a:ext cx="923544" cy="777240"/>
          </a:xfrm>
          <a:prstGeom prst="rect">
            <a:avLst/>
          </a:prstGeom>
          <a:noFill/>
          <a:ln/>
        </p:spPr>
        <p:txBody>
          <a:bodyPr wrap="square" lIns="0" tIns="0" rIns="0" bIns="0" rtlCol="0" anchor="ctr"/>
          <a:lstStyle/>
          <a:p>
            <a:pPr indent="0" marL="0">
              <a:buNone/>
            </a:pPr>
            <a:r>
              <a:rPr lang="en-US" sz="1400" b="1" dirty="0">
                <a:solidFill>
                  <a:srgbClr val="FFFFFF"/>
                </a:solidFill>
              </a:rPr>
              <a:t>TW · 10%</a:t>
            </a:r>
            <a:endParaRPr lang="en-US" sz="1400" dirty="0"/>
          </a:p>
        </p:txBody>
      </p:sp>
      <p:sp>
        <p:nvSpPr>
          <p:cNvPr id="12" name="weight-74"/>
          <p:cNvSpPr/>
          <p:nvPr/>
        </p:nvSpPr>
        <p:spPr>
          <a:xfrm>
            <a:off x="6080760" y="1874520"/>
            <a:ext cx="5532120" cy="777240"/>
          </a:xfrm>
          <a:prstGeom prst="rect">
            <a:avLst/>
          </a:prstGeom>
          <a:solidFill>
            <a:schemeClr val="tx1"/>
          </a:solidFill>
          <a:ln w="19050">
            <a:solidFill>
              <a:srgbClr val="FFFFFF"/>
            </a:solidFill>
            <a:prstDash val="solid"/>
          </a:ln>
        </p:spPr>
      </p:sp>
      <p:sp>
        <p:nvSpPr>
          <p:cNvPr id="13" name="weight-label-75"/>
          <p:cNvSpPr txBox="1"/>
          <p:nvPr/>
        </p:nvSpPr>
        <p:spPr>
          <a:xfrm>
            <a:off x="6172200" y="1874520"/>
            <a:ext cx="5349240" cy="777240"/>
          </a:xfrm>
          <a:prstGeom prst="rect">
            <a:avLst/>
          </a:prstGeom>
          <a:noFill/>
          <a:ln/>
        </p:spPr>
        <p:txBody>
          <a:bodyPr wrap="square" lIns="0" tIns="0" rIns="0" bIns="0" rtlCol="0" anchor="ctr"/>
          <a:lstStyle/>
          <a:p>
            <a:pPr indent="0" marL="0">
              <a:buNone/>
            </a:pPr>
            <a:r>
              <a:rPr lang="en-US" sz="1400" b="1" dirty="0">
                <a:solidFill>
                  <a:srgbClr val="FFFFFF"/>
                </a:solidFill>
              </a:rPr>
              <a:t>ESE · 50% (min. 40% to pass)</a:t>
            </a:r>
            <a:endParaRPr lang="en-US" sz="1400" dirty="0"/>
          </a:p>
        </p:txBody>
      </p:sp>
      <p:sp>
        <p:nvSpPr>
          <p:cNvPr id="14" name="card-76"/>
          <p:cNvSpPr/>
          <p:nvPr/>
        </p:nvSpPr>
        <p:spPr>
          <a:xfrm>
            <a:off x="548640" y="3063240"/>
            <a:ext cx="3566160" cy="1737360"/>
          </a:xfrm>
          <a:prstGeom prst="roundRect">
            <a:avLst>
              <a:gd name="adj" fmla="val 6316"/>
            </a:avLst>
          </a:prstGeom>
          <a:solidFill>
            <a:schemeClr val="bg2"/>
          </a:solidFill>
          <a:ln/>
        </p:spPr>
      </p:sp>
      <p:sp>
        <p:nvSpPr>
          <p:cNvPr id="15" name="card-text-77"/>
          <p:cNvSpPr txBox="1"/>
          <p:nvPr/>
        </p:nvSpPr>
        <p:spPr>
          <a:xfrm>
            <a:off x="777240" y="3246120"/>
            <a:ext cx="3108960" cy="14630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Papers by blueprint</a:t>
            </a:r>
            <a:endParaRPr lang="en-US" sz="1700" dirty="0"/>
          </a:p>
          <a:p>
            <a:pPr indent="0" marL="0">
              <a:buNone/>
            </a:pPr>
            <a:r>
              <a:rPr lang="en-US" sz="1400" dirty="0">
                <a:solidFill>
                  <a:schemeClr val="tx2"/>
                </a:solidFill>
              </a:rPr>
              <a:t>Balanced across units, Bloom levels and COs; no repeated questions</a:t>
            </a:r>
            <a:endParaRPr lang="en-US" sz="1700" dirty="0"/>
          </a:p>
        </p:txBody>
      </p:sp>
      <p:sp>
        <p:nvSpPr>
          <p:cNvPr id="16" name="card-78"/>
          <p:cNvSpPr/>
          <p:nvPr/>
        </p:nvSpPr>
        <p:spPr>
          <a:xfrm>
            <a:off x="4297680" y="3063240"/>
            <a:ext cx="3566160" cy="1737360"/>
          </a:xfrm>
          <a:prstGeom prst="roundRect">
            <a:avLst>
              <a:gd name="adj" fmla="val 6316"/>
            </a:avLst>
          </a:prstGeom>
          <a:solidFill>
            <a:schemeClr val="bg2"/>
          </a:solidFill>
          <a:ln/>
        </p:spPr>
      </p:sp>
      <p:sp>
        <p:nvSpPr>
          <p:cNvPr id="17" name="card-text-79"/>
          <p:cNvSpPr txBox="1"/>
          <p:nvPr/>
        </p:nvSpPr>
        <p:spPr>
          <a:xfrm>
            <a:off x="4526280" y="3246120"/>
            <a:ext cx="3108960" cy="14630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Marks your way</a:t>
            </a:r>
            <a:endParaRPr lang="en-US" sz="1700" dirty="0"/>
          </a:p>
          <a:p>
            <a:pPr indent="0" marL="0">
              <a:buNone/>
            </a:pPr>
            <a:r>
              <a:rPr lang="en-US" sz="1400" dirty="0">
                <a:solidFill>
                  <a:schemeClr val="tx2"/>
                </a:solidFill>
              </a:rPr>
              <a:t>Question-wise, a total, or a CSV import; absentees marked AB</a:t>
            </a:r>
            <a:endParaRPr lang="en-US" sz="1700" dirty="0"/>
          </a:p>
        </p:txBody>
      </p:sp>
      <p:sp>
        <p:nvSpPr>
          <p:cNvPr id="18" name="card-80"/>
          <p:cNvSpPr/>
          <p:nvPr/>
        </p:nvSpPr>
        <p:spPr>
          <a:xfrm>
            <a:off x="8046720" y="3063240"/>
            <a:ext cx="3566160" cy="1737360"/>
          </a:xfrm>
          <a:prstGeom prst="roundRect">
            <a:avLst>
              <a:gd name="adj" fmla="val 6316"/>
            </a:avLst>
          </a:prstGeom>
          <a:solidFill>
            <a:schemeClr val="bg2"/>
          </a:solidFill>
          <a:ln/>
        </p:spPr>
      </p:sp>
      <p:sp>
        <p:nvSpPr>
          <p:cNvPr id="19" name="card-text-81"/>
          <p:cNvSpPr txBox="1"/>
          <p:nvPr/>
        </p:nvSpPr>
        <p:spPr>
          <a:xfrm>
            <a:off x="8275320" y="3246120"/>
            <a:ext cx="3108960" cy="14630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Final grade computed</a:t>
            </a:r>
            <a:endParaRPr lang="en-US" sz="1700" dirty="0"/>
          </a:p>
          <a:p>
            <a:pPr indent="0" marL="0">
              <a:buNone/>
            </a:pPr>
            <a:r>
              <a:rPr lang="en-US" sz="1400" dirty="0">
                <a:solidFill>
                  <a:schemeClr val="tx2"/>
                </a:solidFill>
              </a:rPr>
              <a:t>Weighted %, 10-point grade, minimum-pass rules applied</a:t>
            </a:r>
            <a:endParaRPr lang="en-US" sz="1700" dirty="0"/>
          </a:p>
        </p:txBody>
      </p:sp>
      <p:sp>
        <p:nvSpPr>
          <p:cNvPr id="20" name="caption-82"/>
          <p:cNvSpPr txBox="1"/>
          <p:nvPr/>
        </p:nvSpPr>
        <p:spPr>
          <a:xfrm>
            <a:off x="548640" y="5120640"/>
            <a:ext cx="10972800" cy="548640"/>
          </a:xfrm>
          <a:prstGeom prst="rect">
            <a:avLst/>
          </a:prstGeom>
          <a:noFill/>
          <a:ln/>
        </p:spPr>
        <p:txBody>
          <a:bodyPr wrap="square" lIns="0" tIns="0" rIns="0" bIns="0" rtlCol="0" anchor="ctr"/>
          <a:lstStyle/>
          <a:p>
            <a:pPr indent="0" marL="0">
              <a:buNone/>
            </a:pPr>
            <a:r>
              <a:rPr lang="en-US" sz="1400" dirty="0">
                <a:solidFill>
                  <a:schemeClr val="tx2"/>
                </a:solidFill>
              </a:rPr>
              <a:t>Every weight, maximum and pass rule is editable per course to match university norms.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3"/>
                </a:solidFill>
              </a:rPr>
              <a:t>SECOND CHANCES, HANDLED PROPERLY</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bg1"/>
                </a:solidFill>
              </a:rPr>
              <a:t>Re-exams and make-up tests, without spreadsheets</a:t>
            </a:r>
            <a:endParaRPr lang="en-US" sz="3200" dirty="0"/>
          </a:p>
        </p:txBody>
      </p:sp>
      <p:sp>
        <p:nvSpPr>
          <p:cNvPr id="4" name="card-83"/>
          <p:cNvSpPr/>
          <p:nvPr/>
        </p:nvSpPr>
        <p:spPr>
          <a:xfrm>
            <a:off x="548640" y="1920240"/>
            <a:ext cx="2651760" cy="2651760"/>
          </a:xfrm>
          <a:prstGeom prst="roundRect">
            <a:avLst>
              <a:gd name="adj" fmla="val 4138"/>
            </a:avLst>
          </a:prstGeom>
          <a:solidFill>
            <a:schemeClr val="accent6"/>
          </a:solidFill>
          <a:ln/>
        </p:spPr>
      </p:sp>
      <p:sp>
        <p:nvSpPr>
          <p:cNvPr id="5" name="card-text-84"/>
          <p:cNvSpPr txBox="1"/>
          <p:nvPr/>
        </p:nvSpPr>
        <p:spPr>
          <a:xfrm>
            <a:off x="777240" y="2103120"/>
            <a:ext cx="2194560" cy="2377440"/>
          </a:xfrm>
          <a:prstGeom prst="rect">
            <a:avLst/>
          </a:prstGeom>
          <a:noFill/>
          <a:ln/>
        </p:spPr>
        <p:txBody>
          <a:bodyPr wrap="square" lIns="0" tIns="0" rIns="0" bIns="0" rtlCol="0" anchor="t"/>
          <a:lstStyle/>
          <a:p>
            <a:pPr indent="0" marL="0">
              <a:spcAft>
                <a:spcPts val="400"/>
              </a:spcAft>
              <a:buNone/>
            </a:pPr>
            <a:r>
              <a:rPr lang="en-US" sz="2200" b="1" dirty="0">
                <a:solidFill>
                  <a:schemeClr val="accent3"/>
                </a:solidFill>
              </a:rPr>
              <a:t>1</a:t>
            </a:r>
            <a:endParaRPr lang="en-US" sz="2200" dirty="0"/>
          </a:p>
          <a:p>
            <a:pPr indent="0" marL="0">
              <a:spcAft>
                <a:spcPts val="600"/>
              </a:spcAft>
              <a:buNone/>
            </a:pPr>
            <a:r>
              <a:rPr lang="en-US" sz="1700" b="1" dirty="0">
                <a:solidFill>
                  <a:schemeClr val="bg1"/>
                </a:solidFill>
              </a:rPr>
              <a:t>Who needs it</a:t>
            </a:r>
            <a:endParaRPr lang="en-US" sz="2200" dirty="0"/>
          </a:p>
          <a:p>
            <a:pPr indent="0" marL="0">
              <a:buNone/>
            </a:pPr>
            <a:r>
              <a:rPr lang="en-US" sz="1400" dirty="0">
                <a:solidFill>
                  <a:schemeClr val="accent5"/>
                </a:solidFill>
              </a:rPr>
              <a:t>Absent or below the pass mark: suggested automatically</a:t>
            </a:r>
            <a:endParaRPr lang="en-US" sz="2200" dirty="0"/>
          </a:p>
        </p:txBody>
      </p:sp>
      <p:sp>
        <p:nvSpPr>
          <p:cNvPr id="6" name="card-85"/>
          <p:cNvSpPr/>
          <p:nvPr/>
        </p:nvSpPr>
        <p:spPr>
          <a:xfrm>
            <a:off x="3364992" y="1920240"/>
            <a:ext cx="2651760" cy="2651760"/>
          </a:xfrm>
          <a:prstGeom prst="roundRect">
            <a:avLst>
              <a:gd name="adj" fmla="val 4138"/>
            </a:avLst>
          </a:prstGeom>
          <a:solidFill>
            <a:schemeClr val="accent6"/>
          </a:solidFill>
          <a:ln/>
        </p:spPr>
      </p:sp>
      <p:sp>
        <p:nvSpPr>
          <p:cNvPr id="7" name="card-text-86"/>
          <p:cNvSpPr txBox="1"/>
          <p:nvPr/>
        </p:nvSpPr>
        <p:spPr>
          <a:xfrm>
            <a:off x="3593592" y="2103120"/>
            <a:ext cx="2194560" cy="2377440"/>
          </a:xfrm>
          <a:prstGeom prst="rect">
            <a:avLst/>
          </a:prstGeom>
          <a:noFill/>
          <a:ln/>
        </p:spPr>
        <p:txBody>
          <a:bodyPr wrap="square" lIns="0" tIns="0" rIns="0" bIns="0" rtlCol="0" anchor="t"/>
          <a:lstStyle/>
          <a:p>
            <a:pPr indent="0" marL="0">
              <a:spcAft>
                <a:spcPts val="400"/>
              </a:spcAft>
              <a:buNone/>
            </a:pPr>
            <a:r>
              <a:rPr lang="en-US" sz="2200" b="1" dirty="0">
                <a:solidFill>
                  <a:schemeClr val="accent3"/>
                </a:solidFill>
              </a:rPr>
              <a:t>2</a:t>
            </a:r>
            <a:endParaRPr lang="en-US" sz="2200" dirty="0"/>
          </a:p>
          <a:p>
            <a:pPr indent="0" marL="0">
              <a:spcAft>
                <a:spcPts val="600"/>
              </a:spcAft>
              <a:buNone/>
            </a:pPr>
            <a:r>
              <a:rPr lang="en-US" sz="1700" b="1" dirty="0">
                <a:solidFill>
                  <a:schemeClr val="bg1"/>
                </a:solidFill>
              </a:rPr>
              <a:t>Fresh paper</a:t>
            </a:r>
            <a:endParaRPr lang="en-US" sz="2200" dirty="0"/>
          </a:p>
          <a:p>
            <a:pPr indent="0" marL="0">
              <a:buNone/>
            </a:pPr>
            <a:r>
              <a:rPr lang="en-US" sz="1400" dirty="0">
                <a:solidFill>
                  <a:schemeClr val="accent5"/>
                </a:solidFill>
              </a:rPr>
              <a:t>Generated from the bank, no question repeated</a:t>
            </a:r>
            <a:endParaRPr lang="en-US" sz="2200" dirty="0"/>
          </a:p>
        </p:txBody>
      </p:sp>
      <p:sp>
        <p:nvSpPr>
          <p:cNvPr id="8" name="card-87"/>
          <p:cNvSpPr/>
          <p:nvPr/>
        </p:nvSpPr>
        <p:spPr>
          <a:xfrm>
            <a:off x="6181344" y="1920240"/>
            <a:ext cx="2651760" cy="2651760"/>
          </a:xfrm>
          <a:prstGeom prst="roundRect">
            <a:avLst>
              <a:gd name="adj" fmla="val 4138"/>
            </a:avLst>
          </a:prstGeom>
          <a:solidFill>
            <a:schemeClr val="accent6"/>
          </a:solidFill>
          <a:ln/>
        </p:spPr>
      </p:sp>
      <p:sp>
        <p:nvSpPr>
          <p:cNvPr id="9" name="card-text-88"/>
          <p:cNvSpPr txBox="1"/>
          <p:nvPr/>
        </p:nvSpPr>
        <p:spPr>
          <a:xfrm>
            <a:off x="6409944" y="2103120"/>
            <a:ext cx="2194560" cy="2377440"/>
          </a:xfrm>
          <a:prstGeom prst="rect">
            <a:avLst/>
          </a:prstGeom>
          <a:noFill/>
          <a:ln/>
        </p:spPr>
        <p:txBody>
          <a:bodyPr wrap="square" lIns="0" tIns="0" rIns="0" bIns="0" rtlCol="0" anchor="t"/>
          <a:lstStyle/>
          <a:p>
            <a:pPr indent="0" marL="0">
              <a:spcAft>
                <a:spcPts val="400"/>
              </a:spcAft>
              <a:buNone/>
            </a:pPr>
            <a:r>
              <a:rPr lang="en-US" sz="2200" b="1" dirty="0">
                <a:solidFill>
                  <a:schemeClr val="accent3"/>
                </a:solidFill>
              </a:rPr>
              <a:t>3</a:t>
            </a:r>
            <a:endParaRPr lang="en-US" sz="2200" dirty="0"/>
          </a:p>
          <a:p>
            <a:pPr indent="0" marL="0">
              <a:spcAft>
                <a:spcPts val="600"/>
              </a:spcAft>
              <a:buNone/>
            </a:pPr>
            <a:r>
              <a:rPr lang="en-US" sz="1700" b="1" dirty="0">
                <a:solidFill>
                  <a:schemeClr val="bg1"/>
                </a:solidFill>
              </a:rPr>
              <a:t>Only them</a:t>
            </a:r>
            <a:endParaRPr lang="en-US" sz="2200" dirty="0"/>
          </a:p>
          <a:p>
            <a:pPr indent="0" marL="0">
              <a:buNone/>
            </a:pPr>
            <a:r>
              <a:rPr lang="en-US" sz="1400" dirty="0">
                <a:solidFill>
                  <a:schemeClr val="accent5"/>
                </a:solidFill>
              </a:rPr>
              <a:t>Marks entry and visibility limited to registered students</a:t>
            </a:r>
            <a:endParaRPr lang="en-US" sz="2200" dirty="0"/>
          </a:p>
        </p:txBody>
      </p:sp>
      <p:sp>
        <p:nvSpPr>
          <p:cNvPr id="10" name="card-89"/>
          <p:cNvSpPr/>
          <p:nvPr/>
        </p:nvSpPr>
        <p:spPr>
          <a:xfrm>
            <a:off x="8997696" y="1920240"/>
            <a:ext cx="2651760" cy="2651760"/>
          </a:xfrm>
          <a:prstGeom prst="roundRect">
            <a:avLst>
              <a:gd name="adj" fmla="val 4138"/>
            </a:avLst>
          </a:prstGeom>
          <a:solidFill>
            <a:schemeClr val="accent2"/>
          </a:solidFill>
          <a:ln/>
        </p:spPr>
      </p:sp>
      <p:sp>
        <p:nvSpPr>
          <p:cNvPr id="11" name="card-text-90"/>
          <p:cNvSpPr txBox="1"/>
          <p:nvPr/>
        </p:nvSpPr>
        <p:spPr>
          <a:xfrm>
            <a:off x="9226296" y="2103120"/>
            <a:ext cx="2194560" cy="2377440"/>
          </a:xfrm>
          <a:prstGeom prst="rect">
            <a:avLst/>
          </a:prstGeom>
          <a:noFill/>
          <a:ln/>
        </p:spPr>
        <p:txBody>
          <a:bodyPr wrap="square" lIns="0" tIns="0" rIns="0" bIns="0" rtlCol="0" anchor="t"/>
          <a:lstStyle/>
          <a:p>
            <a:pPr indent="0" marL="0">
              <a:spcAft>
                <a:spcPts val="400"/>
              </a:spcAft>
              <a:buNone/>
            </a:pPr>
            <a:r>
              <a:rPr lang="en-US" sz="2200" b="1" dirty="0">
                <a:solidFill>
                  <a:srgbClr val="FFE7D6"/>
                </a:solidFill>
              </a:rPr>
              <a:t>4</a:t>
            </a:r>
            <a:endParaRPr lang="en-US" sz="2200" dirty="0"/>
          </a:p>
          <a:p>
            <a:pPr indent="0" marL="0">
              <a:spcAft>
                <a:spcPts val="600"/>
              </a:spcAft>
              <a:buNone/>
            </a:pPr>
            <a:r>
              <a:rPr lang="en-US" sz="1700" b="1" dirty="0">
                <a:solidFill>
                  <a:schemeClr val="bg1"/>
                </a:solidFill>
              </a:rPr>
              <a:t>Result folds in</a:t>
            </a:r>
            <a:endParaRPr lang="en-US" sz="2200" dirty="0"/>
          </a:p>
          <a:p>
            <a:pPr indent="0" marL="0">
              <a:buNone/>
            </a:pPr>
            <a:r>
              <a:rPr lang="en-US" sz="1400" dirty="0">
                <a:solidFill>
                  <a:srgbClr val="FFF3EA"/>
                </a:solidFill>
              </a:rPr>
              <a:t>Replaces the original, or the better score counts; marked RE / ADD</a:t>
            </a:r>
            <a:endParaRPr lang="en-US" sz="2200" dirty="0"/>
          </a:p>
        </p:txBody>
      </p:sp>
      <p:sp>
        <p:nvSpPr>
          <p:cNvPr id="12" name="statement-91"/>
          <p:cNvSpPr txBox="1"/>
          <p:nvPr/>
        </p:nvSpPr>
        <p:spPr>
          <a:xfrm>
            <a:off x="548640" y="4983480"/>
            <a:ext cx="10972800" cy="731520"/>
          </a:xfrm>
          <a:prstGeom prst="rect">
            <a:avLst/>
          </a:prstGeom>
          <a:noFill/>
          <a:ln/>
        </p:spPr>
        <p:txBody>
          <a:bodyPr wrap="square" lIns="0" tIns="0" rIns="0" bIns="0" rtlCol="0" anchor="ctr"/>
          <a:lstStyle/>
          <a:p>
            <a:pPr indent="0" marL="0">
              <a:buNone/>
            </a:pPr>
            <a:r>
              <a:rPr lang="en-US" sz="1800" i="1" dirty="0">
                <a:solidFill>
                  <a:schemeClr val="accent5"/>
                </a:solidFill>
                <a:latin typeface="Cambria" pitchFamily="34" charset="0"/>
                <a:ea typeface="Cambria" pitchFamily="34" charset="-122"/>
                <a:cs typeface="Cambria" pitchFamily="34" charset="-120"/>
              </a:rPr>
              <a:t>Works for the ESE, the MSE, an ISE test or a missed assignment — and can run in the re-exam term.</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OUTCOME-BASED EDUCATION</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CO attainment, ready for NBA</a:t>
            </a:r>
            <a:endParaRPr lang="en-US" sz="3200" dirty="0"/>
          </a:p>
        </p:txBody>
      </p:sp>
      <p:sp>
        <p:nvSpPr>
          <p:cNvPr id="4" name="points-92"/>
          <p:cNvSpPr txBox="1"/>
          <p:nvPr/>
        </p:nvSpPr>
        <p:spPr>
          <a:xfrm>
            <a:off x="548640" y="1874520"/>
            <a:ext cx="4297680" cy="420624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chemeClr val="tx1"/>
                </a:solidFill>
              </a:rPr>
              <a:t>Built from evidence: </a:t>
            </a:r>
            <a:pPr indent="0" marL="0">
              <a:buNone/>
            </a:pPr>
            <a:r>
              <a:rPr lang="en-US" sz="1600" dirty="0">
                <a:solidFill>
                  <a:schemeClr val="tx2"/>
                </a:solidFill>
              </a:rPr>
              <a:t>every exam question and rubric criterion is tagged to a CO</a:t>
            </a:r>
            <a:endParaRPr lang="en-US" sz="1600" dirty="0"/>
          </a:p>
          <a:p>
            <a:pPr marL="203200" indent="-203200">
              <a:spcAft>
                <a:spcPts val="1200"/>
              </a:spcAft>
              <a:buSzPct val="100000"/>
              <a:buChar char="•"/>
            </a:pPr>
            <a:r>
              <a:rPr lang="en-US" sz="1600" b="1" dirty="0">
                <a:solidFill>
                  <a:schemeClr val="tx1"/>
                </a:solidFill>
              </a:rPr>
              <a:t>Levels 3 / 2 / 1 </a:t>
            </a:r>
            <a:pPr indent="0" marL="0">
              <a:buNone/>
            </a:pPr>
            <a:r>
              <a:rPr lang="en-US" sz="1600" dirty="0">
                <a:solidFill>
                  <a:schemeClr val="tx2"/>
                </a:solidFill>
              </a:rPr>
              <a:t>when 70 / 60 / 50% of students reach the CO target</a:t>
            </a:r>
            <a:endParaRPr lang="en-US" sz="1600" dirty="0"/>
          </a:p>
          <a:p>
            <a:pPr marL="203200" indent="-203200">
              <a:spcAft>
                <a:spcPts val="1200"/>
              </a:spcAft>
              <a:buSzPct val="100000"/>
              <a:buChar char="•"/>
            </a:pPr>
            <a:r>
              <a:rPr lang="en-US" sz="1600" b="1" dirty="0">
                <a:solidFill>
                  <a:schemeClr val="tx1"/>
                </a:solidFill>
              </a:rPr>
              <a:t>Internal and ESE </a:t>
            </a:r>
            <a:pPr indent="0" marL="0">
              <a:buNone/>
            </a:pPr>
            <a:r>
              <a:rPr lang="en-US" sz="1600" dirty="0">
                <a:solidFill>
                  <a:schemeClr val="tx2"/>
                </a:solidFill>
              </a:rPr>
              <a:t>attainment shown separately, then combined</a:t>
            </a:r>
            <a:endParaRPr lang="en-US" sz="1600" dirty="0"/>
          </a:p>
          <a:p>
            <a:pPr marL="203200" indent="-203200">
              <a:spcAft>
                <a:spcPts val="1200"/>
              </a:spcAft>
              <a:buSzPct val="100000"/>
              <a:buChar char="•"/>
            </a:pPr>
            <a:r>
              <a:rPr lang="en-US" sz="1600" b="1" dirty="0">
                <a:solidFill>
                  <a:schemeClr val="tx1"/>
                </a:solidFill>
              </a:rPr>
              <a:t>Each student </a:t>
            </a:r>
            <a:pPr indent="0" marL="0">
              <a:buNone/>
            </a:pPr>
            <a:r>
              <a:rPr lang="en-US" sz="1600" dirty="0">
                <a:solidFill>
                  <a:schemeClr val="tx2"/>
                </a:solidFill>
              </a:rPr>
              <a:t>sees their own CO profile</a:t>
            </a:r>
            <a:endParaRPr lang="en-US" sz="1600" dirty="0"/>
          </a:p>
        </p:txBody>
      </p:sp>
      <p:sp>
        <p:nvSpPr>
          <p:cNvPr id="5" name="frame-93"/>
          <p:cNvSpPr/>
          <p:nvPr/>
        </p:nvSpPr>
        <p:spPr>
          <a:xfrm>
            <a:off x="5166360" y="1783080"/>
            <a:ext cx="6492240" cy="4343400"/>
          </a:xfrm>
          <a:prstGeom prst="rect">
            <a:avLst/>
          </a:prstGeom>
          <a:solidFill>
            <a:schemeClr val="bg1"/>
          </a:solidFill>
          <a:ln w="9525">
            <a:solidFill>
              <a:srgbClr val="CDD5E3"/>
            </a:solidFill>
            <a:prstDash val="solid"/>
          </a:ln>
        </p:spPr>
      </p:sp>
      <p:pic>
        <p:nvPicPr>
          <p:cNvPr id="6" name="screenshot-94" descr="Course outcome attainment table showing attainment level, students attaining and averages for each CO">    </p:cNvPr>
          <p:cNvPicPr>
            <a:picLocks noChangeAspect="1"/>
          </p:cNvPicPr>
          <p:nvPr/>
        </p:nvPicPr>
        <p:blipFill>
          <a:blip r:embed="rId1"/>
          <a:srcRect l="0" r="0" t="0" b="0"/>
          <a:stretch/>
        </p:blipFill>
        <p:spPr>
          <a:xfrm>
            <a:off x="5212080" y="1828800"/>
            <a:ext cx="6400800" cy="42519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REPORTS</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The reports the office asks for, always current</a:t>
            </a:r>
            <a:endParaRPr lang="en-US" sz="3200" dirty="0"/>
          </a:p>
        </p:txBody>
      </p:sp>
      <p:sp>
        <p:nvSpPr>
          <p:cNvPr id="4" name="points-95"/>
          <p:cNvSpPr txBox="1"/>
          <p:nvPr/>
        </p:nvSpPr>
        <p:spPr>
          <a:xfrm>
            <a:off x="548640" y="1874520"/>
            <a:ext cx="4297680" cy="420624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chemeClr val="tx1"/>
                </a:solidFill>
              </a:rPr>
              <a:t>Consolidated CIE &amp; attendance </a:t>
            </a:r>
            <a:pPr indent="0" marL="0">
              <a:buNone/>
            </a:pPr>
            <a:r>
              <a:rPr lang="en-US" sz="1600" dirty="0">
                <a:solidFill>
                  <a:schemeClr val="tx2"/>
                </a:solidFill>
              </a:rPr>
              <a:t>sorted by roll, name or PRN; NE / AB shown</a:t>
            </a:r>
            <a:endParaRPr lang="en-US" sz="1600" dirty="0"/>
          </a:p>
          <a:p>
            <a:pPr marL="203200" indent="-203200">
              <a:spcAft>
                <a:spcPts val="1200"/>
              </a:spcAft>
              <a:buSzPct val="100000"/>
              <a:buChar char="•"/>
            </a:pPr>
            <a:r>
              <a:rPr lang="en-US" sz="1600" b="1" dirty="0">
                <a:solidFill>
                  <a:schemeClr val="tx1"/>
                </a:solidFill>
              </a:rPr>
              <a:t>Gradebook </a:t>
            </a:r>
            <a:pPr indent="0" marL="0">
              <a:buNone/>
            </a:pPr>
            <a:r>
              <a:rPr lang="en-US" sz="1600" dirty="0">
                <a:solidFill>
                  <a:schemeClr val="tx2"/>
                </a:solidFill>
              </a:rPr>
              <a:t>with weighted final % and grade</a:t>
            </a:r>
            <a:endParaRPr lang="en-US" sz="1600" dirty="0"/>
          </a:p>
          <a:p>
            <a:pPr marL="203200" indent="-203200">
              <a:spcAft>
                <a:spcPts val="1200"/>
              </a:spcAft>
              <a:buSzPct val="100000"/>
              <a:buChar char="•"/>
            </a:pPr>
            <a:r>
              <a:rPr lang="en-US" sz="1600" b="1" dirty="0">
                <a:solidFill>
                  <a:schemeClr val="tx1"/>
                </a:solidFill>
              </a:rPr>
              <a:t>Lesson plan </a:t>
            </a:r>
            <a:pPr indent="0" marL="0">
              <a:buNone/>
            </a:pPr>
            <a:r>
              <a:rPr lang="en-US" sz="1600" dirty="0">
                <a:solidFill>
                  <a:schemeClr val="tx2"/>
                </a:solidFill>
              </a:rPr>
              <a:t>in the department format, with actual dates</a:t>
            </a:r>
            <a:endParaRPr lang="en-US" sz="1600" dirty="0"/>
          </a:p>
          <a:p>
            <a:pPr marL="203200" indent="-203200">
              <a:spcAft>
                <a:spcPts val="1200"/>
              </a:spcAft>
              <a:buSzPct val="100000"/>
              <a:buChar char="•"/>
            </a:pPr>
            <a:r>
              <a:rPr lang="en-US" sz="1600" b="1" dirty="0">
                <a:solidFill>
                  <a:schemeClr val="tx1"/>
                </a:solidFill>
              </a:rPr>
              <a:t>Export </a:t>
            </a:r>
            <a:pPr indent="0" marL="0">
              <a:buNone/>
            </a:pPr>
            <a:r>
              <a:rPr lang="en-US" sz="1600" dirty="0">
                <a:solidFill>
                  <a:schemeClr val="tx2"/>
                </a:solidFill>
              </a:rPr>
              <a:t>to CSV, Word and calendar</a:t>
            </a:r>
            <a:endParaRPr lang="en-US" sz="1600" dirty="0"/>
          </a:p>
        </p:txBody>
      </p:sp>
      <p:sp>
        <p:nvSpPr>
          <p:cNvPr id="5" name="frame-96"/>
          <p:cNvSpPr/>
          <p:nvPr/>
        </p:nvSpPr>
        <p:spPr>
          <a:xfrm>
            <a:off x="5166360" y="1783080"/>
            <a:ext cx="6492240" cy="4343400"/>
          </a:xfrm>
          <a:prstGeom prst="rect">
            <a:avLst/>
          </a:prstGeom>
          <a:solidFill>
            <a:schemeClr val="bg1"/>
          </a:solidFill>
          <a:ln w="9525">
            <a:solidFill>
              <a:srgbClr val="CDD5E3"/>
            </a:solidFill>
            <a:prstDash val="solid"/>
          </a:ln>
        </p:spPr>
      </p:sp>
      <p:pic>
        <p:nvPicPr>
          <p:cNvPr id="6" name="screenshot-97" descr="Consolidated CIE and attendance report with marks per assessment, bucket marks, total CIE and attendance per student">    </p:cNvPr>
          <p:cNvPicPr>
            <a:picLocks noChangeAspect="1"/>
          </p:cNvPicPr>
          <p:nvPr/>
        </p:nvPicPr>
        <p:blipFill>
          <a:blip r:embed="rId1"/>
          <a:srcRect l="0" r="0" t="0" b="0"/>
          <a:stretch/>
        </p:blipFill>
        <p:spPr>
          <a:xfrm>
            <a:off x="5212080" y="1828800"/>
            <a:ext cx="6400800" cy="42519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FOR STUDENTS</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Students always know where they stand</a:t>
            </a:r>
            <a:endParaRPr lang="en-US" sz="3200" dirty="0"/>
          </a:p>
        </p:txBody>
      </p:sp>
      <p:sp>
        <p:nvSpPr>
          <p:cNvPr id="4" name="points-98"/>
          <p:cNvSpPr txBox="1"/>
          <p:nvPr/>
        </p:nvSpPr>
        <p:spPr>
          <a:xfrm>
            <a:off x="548640" y="1874520"/>
            <a:ext cx="4297680" cy="420624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chemeClr val="tx1"/>
                </a:solidFill>
              </a:rPr>
              <a:t>To-do list </a:t>
            </a:r>
            <a:pPr indent="0" marL="0">
              <a:buNone/>
            </a:pPr>
            <a:r>
              <a:rPr lang="en-US" sz="1600" dirty="0">
                <a:solidFill>
                  <a:schemeClr val="tx2"/>
                </a:solidFill>
              </a:rPr>
              <a:t>of assignments, with missing work flagged</a:t>
            </a:r>
            <a:endParaRPr lang="en-US" sz="1600" dirty="0"/>
          </a:p>
          <a:p>
            <a:pPr marL="203200" indent="-203200">
              <a:spcAft>
                <a:spcPts val="1200"/>
              </a:spcAft>
              <a:buSzPct val="100000"/>
              <a:buChar char="•"/>
            </a:pPr>
            <a:r>
              <a:rPr lang="en-US" sz="1600" b="1" dirty="0">
                <a:solidFill>
                  <a:schemeClr val="tx1"/>
                </a:solidFill>
              </a:rPr>
              <a:t>Running grade </a:t>
            </a:r>
            <a:pPr indent="0" marL="0">
              <a:buNone/>
            </a:pPr>
            <a:r>
              <a:rPr lang="en-US" sz="1600" dirty="0">
                <a:solidFill>
                  <a:schemeClr val="tx2"/>
                </a:solidFill>
              </a:rPr>
              <a:t>and their own CO profile</a:t>
            </a:r>
            <a:endParaRPr lang="en-US" sz="1600" dirty="0"/>
          </a:p>
          <a:p>
            <a:pPr marL="203200" indent="-203200">
              <a:spcAft>
                <a:spcPts val="1200"/>
              </a:spcAft>
              <a:buSzPct val="100000"/>
              <a:buChar char="•"/>
            </a:pPr>
            <a:r>
              <a:rPr lang="en-US" sz="1600" b="1" dirty="0">
                <a:solidFill>
                  <a:schemeClr val="tx1"/>
                </a:solidFill>
              </a:rPr>
              <a:t>Attendance % </a:t>
            </a:r>
            <a:pPr indent="0" marL="0">
              <a:buNone/>
            </a:pPr>
            <a:r>
              <a:rPr lang="en-US" sz="1600" dirty="0">
                <a:solidFill>
                  <a:schemeClr val="tx2"/>
                </a:solidFill>
              </a:rPr>
              <a:t>and class notes for every session</a:t>
            </a:r>
            <a:endParaRPr lang="en-US" sz="1600" dirty="0"/>
          </a:p>
          <a:p>
            <a:pPr marL="203200" indent="-203200">
              <a:spcAft>
                <a:spcPts val="1200"/>
              </a:spcAft>
              <a:buSzPct val="100000"/>
              <a:buChar char="•"/>
            </a:pPr>
            <a:r>
              <a:rPr lang="en-US" sz="1600" b="1" dirty="0">
                <a:solidFill>
                  <a:schemeClr val="tx1"/>
                </a:solidFill>
              </a:rPr>
              <a:t>Only released marks </a:t>
            </a:r>
            <a:pPr indent="0" marL="0">
              <a:buNone/>
            </a:pPr>
            <a:r>
              <a:rPr lang="en-US" sz="1600" dirty="0">
                <a:solidFill>
                  <a:schemeClr val="tx2"/>
                </a:solidFill>
              </a:rPr>
              <a:t>are visible; drafts stay private</a:t>
            </a:r>
            <a:endParaRPr lang="en-US" sz="1600" dirty="0"/>
          </a:p>
        </p:txBody>
      </p:sp>
      <p:sp>
        <p:nvSpPr>
          <p:cNvPr id="5" name="frame-99"/>
          <p:cNvSpPr/>
          <p:nvPr/>
        </p:nvSpPr>
        <p:spPr>
          <a:xfrm>
            <a:off x="5166360" y="1783080"/>
            <a:ext cx="6492240" cy="4343400"/>
          </a:xfrm>
          <a:prstGeom prst="rect">
            <a:avLst/>
          </a:prstGeom>
          <a:solidFill>
            <a:schemeClr val="bg1"/>
          </a:solidFill>
          <a:ln w="9525">
            <a:solidFill>
              <a:srgbClr val="CDD5E3"/>
            </a:solidFill>
            <a:prstDash val="solid"/>
          </a:ln>
        </p:spPr>
      </p:sp>
      <p:pic>
        <p:nvPicPr>
          <p:cNvPr id="6" name="screenshot-100" descr="Student grades page showing the current weighted score, grade, component marks and course outcome profile">    </p:cNvPr>
          <p:cNvPicPr>
            <a:picLocks noChangeAspect="1"/>
          </p:cNvPicPr>
          <p:nvPr/>
        </p:nvPicPr>
        <p:blipFill>
          <a:blip r:embed="rId1"/>
          <a:srcRect l="0" r="0" t="0" b="0"/>
          <a:stretch/>
        </p:blipFill>
        <p:spPr>
          <a:xfrm>
            <a:off x="5212080" y="1828800"/>
            <a:ext cx="6400800" cy="42519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FOR THE INSTITUTION</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Organised the way the college already runs</a:t>
            </a:r>
            <a:endParaRPr lang="en-US" sz="3200" dirty="0"/>
          </a:p>
        </p:txBody>
      </p:sp>
      <p:sp>
        <p:nvSpPr>
          <p:cNvPr id="4" name="card-101"/>
          <p:cNvSpPr/>
          <p:nvPr/>
        </p:nvSpPr>
        <p:spPr>
          <a:xfrm>
            <a:off x="548640" y="1874520"/>
            <a:ext cx="5440680" cy="1828800"/>
          </a:xfrm>
          <a:prstGeom prst="roundRect">
            <a:avLst>
              <a:gd name="adj" fmla="val 6000"/>
            </a:avLst>
          </a:prstGeom>
          <a:solidFill>
            <a:schemeClr val="bg1"/>
          </a:solidFill>
          <a:ln w="9525">
            <a:solidFill>
              <a:srgbClr val="CDD5E3"/>
            </a:solidFill>
            <a:prstDash val="solid"/>
          </a:ln>
        </p:spPr>
      </p:sp>
      <p:sp>
        <p:nvSpPr>
          <p:cNvPr id="5" name="dot-102"/>
          <p:cNvSpPr/>
          <p:nvPr/>
        </p:nvSpPr>
        <p:spPr>
          <a:xfrm>
            <a:off x="822960" y="2148840"/>
            <a:ext cx="548640" cy="548640"/>
          </a:xfrm>
          <a:prstGeom prst="ellipse">
            <a:avLst/>
          </a:prstGeom>
          <a:solidFill>
            <a:schemeClr val="accent1"/>
          </a:solidFill>
          <a:ln/>
        </p:spPr>
      </p:sp>
      <p:sp>
        <p:nvSpPr>
          <p:cNvPr id="6" name="dot-num-103"/>
          <p:cNvSpPr txBox="1"/>
          <p:nvPr/>
        </p:nvSpPr>
        <p:spPr>
          <a:xfrm>
            <a:off x="822960" y="21488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inst-text-104"/>
          <p:cNvSpPr txBox="1"/>
          <p:nvPr/>
        </p:nvSpPr>
        <p:spPr>
          <a:xfrm>
            <a:off x="1600200" y="2130552"/>
            <a:ext cx="4160520" cy="137160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Academic terms</a:t>
            </a:r>
            <a:endParaRPr lang="en-US" sz="1800" dirty="0"/>
          </a:p>
          <a:p>
            <a:pPr indent="0" marL="0">
              <a:buNone/>
            </a:pPr>
            <a:r>
              <a:rPr lang="en-US" sz="1500" dirty="0">
                <a:solidFill>
                  <a:schemeClr val="tx2"/>
                </a:solidFill>
              </a:rPr>
              <a:t>Odd, even, re-exam and special-exam terms with a one-click switcher</a:t>
            </a:r>
            <a:endParaRPr lang="en-US" sz="1800" dirty="0"/>
          </a:p>
        </p:txBody>
      </p:sp>
      <p:sp>
        <p:nvSpPr>
          <p:cNvPr id="8" name="card-105"/>
          <p:cNvSpPr/>
          <p:nvPr/>
        </p:nvSpPr>
        <p:spPr>
          <a:xfrm>
            <a:off x="6172200" y="1874520"/>
            <a:ext cx="5440680" cy="1828800"/>
          </a:xfrm>
          <a:prstGeom prst="roundRect">
            <a:avLst>
              <a:gd name="adj" fmla="val 6000"/>
            </a:avLst>
          </a:prstGeom>
          <a:solidFill>
            <a:schemeClr val="bg1"/>
          </a:solidFill>
          <a:ln w="9525">
            <a:solidFill>
              <a:srgbClr val="CDD5E3"/>
            </a:solidFill>
            <a:prstDash val="solid"/>
          </a:ln>
        </p:spPr>
      </p:sp>
      <p:sp>
        <p:nvSpPr>
          <p:cNvPr id="9" name="dot-106"/>
          <p:cNvSpPr/>
          <p:nvPr/>
        </p:nvSpPr>
        <p:spPr>
          <a:xfrm>
            <a:off x="6446520" y="2148840"/>
            <a:ext cx="548640" cy="548640"/>
          </a:xfrm>
          <a:prstGeom prst="ellipse">
            <a:avLst/>
          </a:prstGeom>
          <a:solidFill>
            <a:schemeClr val="accent1"/>
          </a:solidFill>
          <a:ln/>
        </p:spPr>
      </p:sp>
      <p:sp>
        <p:nvSpPr>
          <p:cNvPr id="10" name="dot-num-107"/>
          <p:cNvSpPr txBox="1"/>
          <p:nvPr/>
        </p:nvSpPr>
        <p:spPr>
          <a:xfrm>
            <a:off x="6446520" y="21488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inst-text-108"/>
          <p:cNvSpPr txBox="1"/>
          <p:nvPr/>
        </p:nvSpPr>
        <p:spPr>
          <a:xfrm>
            <a:off x="7223760" y="2130552"/>
            <a:ext cx="4160520" cy="137160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Institute-wide changes</a:t>
            </a:r>
            <a:endParaRPr lang="en-US" sz="1800" dirty="0"/>
          </a:p>
          <a:p>
            <a:pPr indent="0" marL="0">
              <a:buNone/>
            </a:pPr>
            <a:r>
              <a:rPr lang="en-US" sz="1500" dirty="0">
                <a:solidFill>
                  <a:schemeClr val="tx2"/>
                </a:solidFill>
              </a:rPr>
              <a:t>One holiday declaration updates every course in the term</a:t>
            </a:r>
            <a:endParaRPr lang="en-US" sz="1800" dirty="0"/>
          </a:p>
        </p:txBody>
      </p:sp>
      <p:sp>
        <p:nvSpPr>
          <p:cNvPr id="12" name="card-109"/>
          <p:cNvSpPr/>
          <p:nvPr/>
        </p:nvSpPr>
        <p:spPr>
          <a:xfrm>
            <a:off x="548640" y="3886200"/>
            <a:ext cx="5440680" cy="1828800"/>
          </a:xfrm>
          <a:prstGeom prst="roundRect">
            <a:avLst>
              <a:gd name="adj" fmla="val 6000"/>
            </a:avLst>
          </a:prstGeom>
          <a:solidFill>
            <a:schemeClr val="bg1"/>
          </a:solidFill>
          <a:ln w="9525">
            <a:solidFill>
              <a:srgbClr val="CDD5E3"/>
            </a:solidFill>
            <a:prstDash val="solid"/>
          </a:ln>
        </p:spPr>
      </p:sp>
      <p:sp>
        <p:nvSpPr>
          <p:cNvPr id="13" name="dot-110"/>
          <p:cNvSpPr/>
          <p:nvPr/>
        </p:nvSpPr>
        <p:spPr>
          <a:xfrm>
            <a:off x="822960" y="4160520"/>
            <a:ext cx="548640" cy="548640"/>
          </a:xfrm>
          <a:prstGeom prst="ellipse">
            <a:avLst/>
          </a:prstGeom>
          <a:solidFill>
            <a:schemeClr val="accent1"/>
          </a:solidFill>
          <a:ln/>
        </p:spPr>
      </p:sp>
      <p:sp>
        <p:nvSpPr>
          <p:cNvPr id="14" name="dot-num-111"/>
          <p:cNvSpPr txBox="1"/>
          <p:nvPr/>
        </p:nvSpPr>
        <p:spPr>
          <a:xfrm>
            <a:off x="822960" y="4160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inst-text-112"/>
          <p:cNvSpPr txBox="1"/>
          <p:nvPr/>
        </p:nvSpPr>
        <p:spPr>
          <a:xfrm>
            <a:off x="1600200" y="4142232"/>
            <a:ext cx="4160520" cy="137160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Roles</a:t>
            </a:r>
            <a:endParaRPr lang="en-US" sz="1800" dirty="0"/>
          </a:p>
          <a:p>
            <a:pPr indent="0" marL="0">
              <a:buNone/>
            </a:pPr>
            <a:r>
              <a:rPr lang="en-US" sz="1500" dirty="0">
                <a:solidFill>
                  <a:schemeClr val="tx2"/>
                </a:solidFill>
              </a:rPr>
              <a:t>Teachers, co-teachers, students and administrators; bulk enrolment with roll no. and PRN</a:t>
            </a:r>
            <a:endParaRPr lang="en-US" sz="1800" dirty="0"/>
          </a:p>
        </p:txBody>
      </p:sp>
      <p:sp>
        <p:nvSpPr>
          <p:cNvPr id="16" name="card-113"/>
          <p:cNvSpPr/>
          <p:nvPr/>
        </p:nvSpPr>
        <p:spPr>
          <a:xfrm>
            <a:off x="6172200" y="3886200"/>
            <a:ext cx="5440680" cy="1828800"/>
          </a:xfrm>
          <a:prstGeom prst="roundRect">
            <a:avLst>
              <a:gd name="adj" fmla="val 6000"/>
            </a:avLst>
          </a:prstGeom>
          <a:solidFill>
            <a:schemeClr val="bg1"/>
          </a:solidFill>
          <a:ln w="9525">
            <a:solidFill>
              <a:srgbClr val="CDD5E3"/>
            </a:solidFill>
            <a:prstDash val="solid"/>
          </a:ln>
        </p:spPr>
      </p:sp>
      <p:sp>
        <p:nvSpPr>
          <p:cNvPr id="17" name="dot-114"/>
          <p:cNvSpPr/>
          <p:nvPr/>
        </p:nvSpPr>
        <p:spPr>
          <a:xfrm>
            <a:off x="6446520" y="4160520"/>
            <a:ext cx="548640" cy="548640"/>
          </a:xfrm>
          <a:prstGeom prst="ellipse">
            <a:avLst/>
          </a:prstGeom>
          <a:solidFill>
            <a:schemeClr val="accent1"/>
          </a:solidFill>
          <a:ln/>
        </p:spPr>
      </p:sp>
      <p:sp>
        <p:nvSpPr>
          <p:cNvPr id="18" name="dot-num-115"/>
          <p:cNvSpPr txBox="1"/>
          <p:nvPr/>
        </p:nvSpPr>
        <p:spPr>
          <a:xfrm>
            <a:off x="6446520" y="4160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inst-text-116"/>
          <p:cNvSpPr txBox="1"/>
          <p:nvPr/>
        </p:nvSpPr>
        <p:spPr>
          <a:xfrm>
            <a:off x="7223760" y="4142232"/>
            <a:ext cx="4160520" cy="137160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The college owns the data</a:t>
            </a:r>
            <a:endParaRPr lang="en-US" sz="1800" dirty="0"/>
          </a:p>
          <a:p>
            <a:pPr indent="0" marL="0">
              <a:buNone/>
            </a:pPr>
            <a:r>
              <a:rPr lang="en-US" sz="1500" dirty="0">
                <a:solidFill>
                  <a:schemeClr val="tx2"/>
                </a:solidFill>
              </a:rPr>
              <a:t>Runs on the college's own server; everything exports to CSV or Word</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WHERE IT STANDS</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Working and tested today; four steps to a pilot</a:t>
            </a:r>
            <a:endParaRPr lang="en-US" sz="3200" dirty="0"/>
          </a:p>
        </p:txBody>
      </p:sp>
      <p:sp>
        <p:nvSpPr>
          <p:cNvPr id="4" name="card-117"/>
          <p:cNvSpPr/>
          <p:nvPr/>
        </p:nvSpPr>
        <p:spPr>
          <a:xfrm>
            <a:off x="548640" y="1874520"/>
            <a:ext cx="5440680" cy="3931920"/>
          </a:xfrm>
          <a:prstGeom prst="roundRect">
            <a:avLst>
              <a:gd name="adj" fmla="val 2791"/>
            </a:avLst>
          </a:prstGeom>
          <a:solidFill>
            <a:schemeClr val="bg2"/>
          </a:solidFill>
          <a:ln/>
        </p:spPr>
      </p:sp>
      <p:sp>
        <p:nvSpPr>
          <p:cNvPr id="5" name="status-dot-118"/>
          <p:cNvSpPr/>
          <p:nvPr/>
        </p:nvSpPr>
        <p:spPr>
          <a:xfrm>
            <a:off x="822960" y="2103120"/>
            <a:ext cx="320040" cy="320040"/>
          </a:xfrm>
          <a:prstGeom prst="ellipse">
            <a:avLst/>
          </a:prstGeom>
          <a:solidFill>
            <a:schemeClr val="accent4"/>
          </a:solidFill>
          <a:ln/>
        </p:spPr>
      </p:sp>
      <p:sp>
        <p:nvSpPr>
          <p:cNvPr id="6" name="status-title-119"/>
          <p:cNvSpPr txBox="1"/>
          <p:nvPr/>
        </p:nvSpPr>
        <p:spPr>
          <a:xfrm>
            <a:off x="1280160" y="2057400"/>
            <a:ext cx="4389120" cy="411480"/>
          </a:xfrm>
          <a:prstGeom prst="rect">
            <a:avLst/>
          </a:prstGeom>
          <a:noFill/>
          <a:ln/>
        </p:spPr>
        <p:txBody>
          <a:bodyPr wrap="square" lIns="0" tIns="0" rIns="0" bIns="0" rtlCol="0" anchor="ctr"/>
          <a:lstStyle/>
          <a:p>
            <a:pPr indent="0" marL="0">
              <a:buNone/>
            </a:pPr>
            <a:r>
              <a:rPr lang="en-US" sz="2000" b="1" dirty="0">
                <a:solidFill>
                  <a:schemeClr val="tx1"/>
                </a:solidFill>
              </a:rPr>
              <a:t>Done</a:t>
            </a:r>
            <a:endParaRPr lang="en-US" sz="2000" dirty="0"/>
          </a:p>
        </p:txBody>
      </p:sp>
      <p:sp>
        <p:nvSpPr>
          <p:cNvPr id="7" name="status-list-120"/>
          <p:cNvSpPr txBox="1"/>
          <p:nvPr/>
        </p:nvSpPr>
        <p:spPr>
          <a:xfrm>
            <a:off x="822960" y="2697480"/>
            <a:ext cx="4892040" cy="29260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2"/>
                </a:solidFill>
              </a:rPr>
              <a:t>Everything in this presentation is built and working</a:t>
            </a:r>
            <a:endParaRPr lang="en-US" sz="1500" dirty="0"/>
          </a:p>
          <a:p>
            <a:pPr marL="203200" indent="-203200">
              <a:spcAft>
                <a:spcPts val="1000"/>
              </a:spcAft>
              <a:buSzPct val="100000"/>
              <a:buChar char="•"/>
            </a:pPr>
            <a:r>
              <a:rPr lang="en-US" sz="1500" dirty="0">
                <a:solidFill>
                  <a:schemeClr val="tx2"/>
                </a:solidFill>
              </a:rPr>
              <a:t>37 automated checks pass on every change</a:t>
            </a:r>
            <a:endParaRPr lang="en-US" sz="1500" dirty="0"/>
          </a:p>
          <a:p>
            <a:pPr marL="203200" indent="-203200">
              <a:spcAft>
                <a:spcPts val="1000"/>
              </a:spcAft>
              <a:buSzPct val="100000"/>
              <a:buChar char="•"/>
            </a:pPr>
            <a:r>
              <a:rPr lang="en-US" sz="1500" dirty="0">
                <a:solidFill>
                  <a:schemeClr val="tx2"/>
                </a:solidFill>
              </a:rPr>
              <a:t>Full teacher-and-student walkthrough tested in a browser: 17 of 17 steps</a:t>
            </a:r>
            <a:endParaRPr lang="en-US" sz="1500" dirty="0"/>
          </a:p>
          <a:p>
            <a:pPr marL="203200" indent="-203200">
              <a:spcAft>
                <a:spcPts val="1000"/>
              </a:spcAft>
              <a:buSzPct val="100000"/>
              <a:buChar char="•"/>
            </a:pPr>
            <a:r>
              <a:rPr lang="en-US" sz="1500" dirty="0">
                <a:solidFill>
                  <a:schemeClr val="tx2"/>
                </a:solidFill>
              </a:rPr>
              <a:t>A real departmental lesson plan imported correctly</a:t>
            </a:r>
            <a:endParaRPr lang="en-US" sz="1500" dirty="0"/>
          </a:p>
        </p:txBody>
      </p:sp>
      <p:sp>
        <p:nvSpPr>
          <p:cNvPr id="8" name="card-121"/>
          <p:cNvSpPr/>
          <p:nvPr/>
        </p:nvSpPr>
        <p:spPr>
          <a:xfrm>
            <a:off x="6172200" y="1874520"/>
            <a:ext cx="5440680" cy="3931920"/>
          </a:xfrm>
          <a:prstGeom prst="roundRect">
            <a:avLst>
              <a:gd name="adj" fmla="val 2791"/>
            </a:avLst>
          </a:prstGeom>
          <a:solidFill>
            <a:schemeClr val="bg2"/>
          </a:solidFill>
          <a:ln/>
        </p:spPr>
      </p:sp>
      <p:sp>
        <p:nvSpPr>
          <p:cNvPr id="9" name="status-dot-122"/>
          <p:cNvSpPr/>
          <p:nvPr/>
        </p:nvSpPr>
        <p:spPr>
          <a:xfrm>
            <a:off x="6446520" y="2103120"/>
            <a:ext cx="320040" cy="320040"/>
          </a:xfrm>
          <a:prstGeom prst="ellipse">
            <a:avLst/>
          </a:prstGeom>
          <a:solidFill>
            <a:schemeClr val="accent2"/>
          </a:solidFill>
          <a:ln/>
        </p:spPr>
      </p:sp>
      <p:sp>
        <p:nvSpPr>
          <p:cNvPr id="10" name="status-title-123"/>
          <p:cNvSpPr txBox="1"/>
          <p:nvPr/>
        </p:nvSpPr>
        <p:spPr>
          <a:xfrm>
            <a:off x="6903720" y="2057400"/>
            <a:ext cx="4389120" cy="411480"/>
          </a:xfrm>
          <a:prstGeom prst="rect">
            <a:avLst/>
          </a:prstGeom>
          <a:noFill/>
          <a:ln/>
        </p:spPr>
        <p:txBody>
          <a:bodyPr wrap="square" lIns="0" tIns="0" rIns="0" bIns="0" rtlCol="0" anchor="ctr"/>
          <a:lstStyle/>
          <a:p>
            <a:pPr indent="0" marL="0">
              <a:buNone/>
            </a:pPr>
            <a:r>
              <a:rPr lang="en-US" sz="2000" b="1" dirty="0">
                <a:solidFill>
                  <a:schemeClr val="tx1"/>
                </a:solidFill>
              </a:rPr>
              <a:t>Needed before a pilot</a:t>
            </a:r>
            <a:endParaRPr lang="en-US" sz="2000" dirty="0"/>
          </a:p>
        </p:txBody>
      </p:sp>
      <p:sp>
        <p:nvSpPr>
          <p:cNvPr id="11" name="status-list-124"/>
          <p:cNvSpPr txBox="1"/>
          <p:nvPr/>
        </p:nvSpPr>
        <p:spPr>
          <a:xfrm>
            <a:off x="6446520" y="2697480"/>
            <a:ext cx="4892040" cy="29260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2"/>
                </a:solidFill>
              </a:rPr>
              <a:t>A college server with a production database and backups</a:t>
            </a:r>
            <a:endParaRPr lang="en-US" sz="1500" dirty="0"/>
          </a:p>
          <a:p>
            <a:pPr marL="203200" indent="-203200">
              <a:spcAft>
                <a:spcPts val="1000"/>
              </a:spcAft>
              <a:buSzPct val="100000"/>
              <a:buChar char="•"/>
            </a:pPr>
            <a:r>
              <a:rPr lang="en-US" sz="1500" dirty="0">
                <a:solidFill>
                  <a:schemeClr val="tx2"/>
                </a:solidFill>
              </a:rPr>
              <a:t>Student list import from the current ERP</a:t>
            </a:r>
            <a:endParaRPr lang="en-US" sz="1500" dirty="0"/>
          </a:p>
          <a:p>
            <a:pPr marL="203200" indent="-203200">
              <a:spcAft>
                <a:spcPts val="1000"/>
              </a:spcAft>
              <a:buSzPct val="100000"/>
              <a:buChar char="•"/>
            </a:pPr>
            <a:r>
              <a:rPr lang="en-US" sz="1500" dirty="0">
                <a:solidFill>
                  <a:schemeClr val="tx2"/>
                </a:solidFill>
              </a:rPr>
              <a:t>A data-privacy and access review</a:t>
            </a:r>
            <a:endParaRPr lang="en-US" sz="1500" dirty="0"/>
          </a:p>
          <a:p>
            <a:pPr marL="203200" indent="-203200">
              <a:spcAft>
                <a:spcPts val="1000"/>
              </a:spcAft>
              <a:buSzPct val="100000"/>
              <a:buChar char="•"/>
            </a:pPr>
            <a:r>
              <a:rPr lang="en-US" sz="1500" dirty="0">
                <a:solidFill>
                  <a:schemeClr val="tx2"/>
                </a:solidFill>
              </a:rPr>
              <a:t>A short training session for pilot faculty</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64240" cy="365760"/>
          </a:xfrm>
          <a:prstGeom prst="rect">
            <a:avLst/>
          </a:prstGeom>
          <a:noFill/>
          <a:ln/>
        </p:spPr>
        <p:txBody>
          <a:bodyPr wrap="square" lIns="0" tIns="0" rIns="0" bIns="0" rtlCol="0"/>
          <a:lstStyle/>
          <a:p>
            <a:pPr indent="0" marL="0">
              <a:buNone/>
            </a:pPr>
            <a:r>
              <a:rPr lang="en-US" sz="1300" b="1" spc="200" kern="0" dirty="0">
                <a:solidFill>
                  <a:schemeClr val="accent1"/>
                </a:solidFill>
              </a:rPr>
              <a:t>PROPOSAL</a:t>
            </a:r>
            <a:endParaRPr lang="en-US" sz="1300" dirty="0"/>
          </a:p>
        </p:txBody>
      </p:sp>
      <p:sp>
        <p:nvSpPr>
          <p:cNvPr id="3" name="Text 0"/>
          <p:cNvSpPr/>
          <p:nvPr>
            <p:ph idx="101" type="title" hasCustomPrompt="1"/>
          </p:nvPr>
        </p:nvSpPr>
        <p:spPr>
          <a:xfrm>
            <a:off x="548640" y="731520"/>
            <a:ext cx="11064240" cy="868680"/>
          </a:xfrm>
          <a:prstGeom prst="rect">
            <a:avLst/>
          </a:prstGeom>
          <a:noFill/>
          <a:ln/>
        </p:spPr>
        <p:txBody>
          <a:bodyPr wrap="square" lIns="0" tIns="0" rIns="0" bIns="0" rtlCol="0" anchor="t"/>
          <a:lstStyle/>
          <a:p>
            <a:pPr indent="0" marL="0">
              <a:buNone/>
            </a:pPr>
            <a:r>
              <a:rPr lang="en-US" sz="3200" b="1" dirty="0">
                <a:solidFill>
                  <a:schemeClr val="tx1"/>
                </a:solidFill>
              </a:rPr>
              <a:t>Start small: one department, one semester</a:t>
            </a:r>
            <a:endParaRPr lang="en-US" sz="3200" dirty="0"/>
          </a:p>
        </p:txBody>
      </p:sp>
      <p:sp>
        <p:nvSpPr>
          <p:cNvPr id="4" name="card-125"/>
          <p:cNvSpPr/>
          <p:nvPr/>
        </p:nvSpPr>
        <p:spPr>
          <a:xfrm>
            <a:off x="548640" y="1874520"/>
            <a:ext cx="3566160" cy="2148840"/>
          </a:xfrm>
          <a:prstGeom prst="roundRect">
            <a:avLst>
              <a:gd name="adj" fmla="val 5106"/>
            </a:avLst>
          </a:prstGeom>
          <a:solidFill>
            <a:schemeClr val="bg1"/>
          </a:solidFill>
          <a:ln w="9525">
            <a:solidFill>
              <a:srgbClr val="CDD5E3"/>
            </a:solidFill>
            <a:prstDash val="solid"/>
          </a:ln>
        </p:spPr>
      </p:sp>
      <p:sp>
        <p:nvSpPr>
          <p:cNvPr id="5" name="phase-126"/>
          <p:cNvSpPr txBox="1"/>
          <p:nvPr/>
        </p:nvSpPr>
        <p:spPr>
          <a:xfrm>
            <a:off x="777240" y="2057400"/>
            <a:ext cx="3108960" cy="187452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Phase 1 · [month]</a:t>
            </a:r>
            <a:endParaRPr lang="en-US" sz="1300" dirty="0"/>
          </a:p>
          <a:p>
            <a:pPr indent="0" marL="0">
              <a:spcAft>
                <a:spcPts val="600"/>
              </a:spcAft>
              <a:buNone/>
            </a:pPr>
            <a:r>
              <a:rPr lang="en-US" sz="2000" b="1" dirty="0">
                <a:solidFill>
                  <a:schemeClr val="tx1"/>
                </a:solidFill>
              </a:rPr>
              <a:t>Set up</a:t>
            </a:r>
            <a:endParaRPr lang="en-US" sz="1300" dirty="0"/>
          </a:p>
          <a:p>
            <a:pPr indent="0" marL="0">
              <a:buNone/>
            </a:pPr>
            <a:r>
              <a:rPr lang="en-US" sz="1400" dirty="0">
                <a:solidFill>
                  <a:schemeClr val="tx2"/>
                </a:solidFill>
              </a:rPr>
              <a:t>Install on a college server, import students, train [__] volunteer faculty</a:t>
            </a:r>
            <a:endParaRPr lang="en-US" sz="1300" dirty="0"/>
          </a:p>
        </p:txBody>
      </p:sp>
      <p:sp>
        <p:nvSpPr>
          <p:cNvPr id="6" name="card-127"/>
          <p:cNvSpPr/>
          <p:nvPr/>
        </p:nvSpPr>
        <p:spPr>
          <a:xfrm>
            <a:off x="4297680" y="1874520"/>
            <a:ext cx="3566160" cy="2148840"/>
          </a:xfrm>
          <a:prstGeom prst="roundRect">
            <a:avLst>
              <a:gd name="adj" fmla="val 5106"/>
            </a:avLst>
          </a:prstGeom>
          <a:solidFill>
            <a:schemeClr val="bg1"/>
          </a:solidFill>
          <a:ln w="9525">
            <a:solidFill>
              <a:srgbClr val="CDD5E3"/>
            </a:solidFill>
            <a:prstDash val="solid"/>
          </a:ln>
        </p:spPr>
      </p:sp>
      <p:sp>
        <p:nvSpPr>
          <p:cNvPr id="7" name="phase-128"/>
          <p:cNvSpPr txBox="1"/>
          <p:nvPr/>
        </p:nvSpPr>
        <p:spPr>
          <a:xfrm>
            <a:off x="4526280" y="2057400"/>
            <a:ext cx="3108960" cy="187452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Phase 2 · one semester</a:t>
            </a:r>
            <a:endParaRPr lang="en-US" sz="1300" dirty="0"/>
          </a:p>
          <a:p>
            <a:pPr indent="0" marL="0">
              <a:spcAft>
                <a:spcPts val="600"/>
              </a:spcAft>
              <a:buNone/>
            </a:pPr>
            <a:r>
              <a:rPr lang="en-US" sz="2000" b="1" dirty="0">
                <a:solidFill>
                  <a:schemeClr val="tx1"/>
                </a:solidFill>
              </a:rPr>
              <a:t>Pilot</a:t>
            </a:r>
            <a:endParaRPr lang="en-US" sz="1300" dirty="0"/>
          </a:p>
          <a:p>
            <a:pPr indent="0" marL="0">
              <a:buNone/>
            </a:pPr>
            <a:r>
              <a:rPr lang="en-US" sz="1400" dirty="0">
                <a:solidFill>
                  <a:schemeClr val="tx2"/>
                </a:solidFill>
              </a:rPr>
              <a:t>[__] courses in [department] run fully on CampusFlow alongside the ERP</a:t>
            </a:r>
            <a:endParaRPr lang="en-US" sz="1300" dirty="0"/>
          </a:p>
        </p:txBody>
      </p:sp>
      <p:sp>
        <p:nvSpPr>
          <p:cNvPr id="8" name="card-129"/>
          <p:cNvSpPr/>
          <p:nvPr/>
        </p:nvSpPr>
        <p:spPr>
          <a:xfrm>
            <a:off x="8046720" y="1874520"/>
            <a:ext cx="3566160" cy="2148840"/>
          </a:xfrm>
          <a:prstGeom prst="roundRect">
            <a:avLst>
              <a:gd name="adj" fmla="val 5106"/>
            </a:avLst>
          </a:prstGeom>
          <a:solidFill>
            <a:schemeClr val="tx1"/>
          </a:solidFill>
          <a:ln/>
        </p:spPr>
      </p:sp>
      <p:sp>
        <p:nvSpPr>
          <p:cNvPr id="9" name="phase-130"/>
          <p:cNvSpPr txBox="1"/>
          <p:nvPr/>
        </p:nvSpPr>
        <p:spPr>
          <a:xfrm>
            <a:off x="8275320" y="2057400"/>
            <a:ext cx="3108960" cy="1874520"/>
          </a:xfrm>
          <a:prstGeom prst="rect">
            <a:avLst/>
          </a:prstGeom>
          <a:noFill/>
          <a:ln/>
        </p:spPr>
        <p:txBody>
          <a:bodyPr wrap="square" lIns="0" tIns="0" rIns="0" bIns="0" rtlCol="0" anchor="t"/>
          <a:lstStyle/>
          <a:p>
            <a:pPr indent="0" marL="0">
              <a:spcAft>
                <a:spcPts val="400"/>
              </a:spcAft>
              <a:buNone/>
            </a:pPr>
            <a:r>
              <a:rPr lang="en-US" sz="1300" b="1" dirty="0">
                <a:solidFill>
                  <a:schemeClr val="accent3"/>
                </a:solidFill>
              </a:rPr>
              <a:t>Phase 3 · review</a:t>
            </a:r>
            <a:endParaRPr lang="en-US" sz="1300" dirty="0"/>
          </a:p>
          <a:p>
            <a:pPr indent="0" marL="0">
              <a:spcAft>
                <a:spcPts val="600"/>
              </a:spcAft>
              <a:buNone/>
            </a:pPr>
            <a:r>
              <a:rPr lang="en-US" sz="2000" b="1" dirty="0">
                <a:solidFill>
                  <a:schemeClr val="bg1"/>
                </a:solidFill>
              </a:rPr>
              <a:t>Decide</a:t>
            </a:r>
            <a:endParaRPr lang="en-US" sz="1300" dirty="0"/>
          </a:p>
          <a:p>
            <a:pPr indent="0" marL="0">
              <a:buNone/>
            </a:pPr>
            <a:r>
              <a:rPr lang="en-US" sz="1400" dirty="0">
                <a:solidFill>
                  <a:schemeClr val="accent5"/>
                </a:solidFill>
              </a:rPr>
              <a:t>Measure teacher time saved and CO data quality, then decide on rollout</a:t>
            </a:r>
            <a:endParaRPr lang="en-US" sz="1300" dirty="0"/>
          </a:p>
        </p:txBody>
      </p:sp>
      <p:sp>
        <p:nvSpPr>
          <p:cNvPr id="10" name="card-131"/>
          <p:cNvSpPr/>
          <p:nvPr/>
        </p:nvSpPr>
        <p:spPr>
          <a:xfrm>
            <a:off x="548640" y="4297680"/>
            <a:ext cx="11064240" cy="1417320"/>
          </a:xfrm>
          <a:prstGeom prst="roundRect">
            <a:avLst>
              <a:gd name="adj" fmla="val 7742"/>
            </a:avLst>
          </a:prstGeom>
          <a:solidFill>
            <a:schemeClr val="bg1"/>
          </a:solidFill>
          <a:ln w="9525">
            <a:solidFill>
              <a:srgbClr val="CDD5E3"/>
            </a:solidFill>
            <a:prstDash val="solid"/>
          </a:ln>
        </p:spPr>
      </p:sp>
      <p:sp>
        <p:nvSpPr>
          <p:cNvPr id="11" name="ask-132"/>
          <p:cNvSpPr txBox="1"/>
          <p:nvPr/>
        </p:nvSpPr>
        <p:spPr>
          <a:xfrm>
            <a:off x="822960" y="4434840"/>
            <a:ext cx="10515600" cy="1188720"/>
          </a:xfrm>
          <a:prstGeom prst="rect">
            <a:avLst/>
          </a:prstGeom>
          <a:noFill/>
          <a:ln/>
        </p:spPr>
        <p:txBody>
          <a:bodyPr wrap="square" lIns="0" tIns="0" rIns="0" bIns="0" rtlCol="0" anchor="t"/>
          <a:lstStyle/>
          <a:p>
            <a:pPr indent="0" marL="0">
              <a:spcAft>
                <a:spcPts val="600"/>
              </a:spcAft>
              <a:buNone/>
            </a:pPr>
            <a:r>
              <a:rPr lang="en-US" sz="1800" b="1" dirty="0">
                <a:solidFill>
                  <a:schemeClr val="accent2"/>
                </a:solidFill>
              </a:rPr>
              <a:t>What we ask for today</a:t>
            </a:r>
            <a:endParaRPr lang="en-US" sz="1800" dirty="0"/>
          </a:p>
          <a:p>
            <a:pPr indent="0" marL="0">
              <a:buNone/>
            </a:pPr>
            <a:r>
              <a:rPr lang="en-US" sz="1600" dirty="0">
                <a:solidFill>
                  <a:schemeClr val="tx1"/>
                </a:solidFill>
              </a:rPr>
              <a:t>Approval for the pilot · a college server (or approved hosting) · [__] faculty volunteers · access to student lists for the pilot classes</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515600" cy="411480"/>
          </a:xfrm>
          <a:prstGeom prst="rect">
            <a:avLst/>
          </a:prstGeom>
          <a:noFill/>
          <a:ln/>
        </p:spPr>
        <p:txBody>
          <a:bodyPr wrap="square" rtlCol="0"/>
          <a:lstStyle/>
          <a:p>
            <a:pPr indent="0" marL="0">
              <a:buNone/>
            </a:pPr>
            <a:r>
              <a:rPr lang="en-US" sz="1400" b="1" spc="300" kern="0" dirty="0">
                <a:solidFill>
                  <a:schemeClr val="accent3"/>
                </a:solidFill>
              </a:rPr>
              <a:t>CAMPUSFLOW LMS</a:t>
            </a:r>
            <a:endParaRPr lang="en-US" sz="1400" dirty="0"/>
          </a:p>
        </p:txBody>
      </p:sp>
      <p:sp>
        <p:nvSpPr>
          <p:cNvPr id="3" name="Text 0"/>
          <p:cNvSpPr/>
          <p:nvPr>
            <p:ph idx="101" type="title" hasCustomPrompt="1"/>
          </p:nvPr>
        </p:nvSpPr>
        <p:spPr>
          <a:xfrm>
            <a:off x="731520" y="2011680"/>
            <a:ext cx="10515600" cy="1280160"/>
          </a:xfrm>
          <a:prstGeom prst="rect">
            <a:avLst/>
          </a:prstGeom>
          <a:noFill/>
          <a:ln/>
        </p:spPr>
        <p:txBody>
          <a:bodyPr wrap="square" lIns="0" tIns="0" rIns="0" bIns="0" rtlCol="0" anchor="b"/>
          <a:lstStyle/>
          <a:p>
            <a:pPr indent="0" marL="0">
              <a:buNone/>
            </a:pPr>
            <a:r>
              <a:rPr lang="en-US" sz="6000" b="1" dirty="0">
                <a:solidFill>
                  <a:schemeClr val="bg1"/>
                </a:solidFill>
              </a:rPr>
              <a:t>Thank you</a:t>
            </a:r>
            <a:endParaRPr lang="en-US" sz="6000" dirty="0"/>
          </a:p>
        </p:txBody>
      </p:sp>
      <p:sp>
        <p:nvSpPr>
          <p:cNvPr id="4" name="Text 0"/>
          <p:cNvSpPr/>
          <p:nvPr>
            <p:ph idx="102" type="body" hasCustomPrompt="1"/>
          </p:nvPr>
        </p:nvSpPr>
        <p:spPr>
          <a:xfrm>
            <a:off x="731520" y="3429000"/>
            <a:ext cx="9601200" cy="1188720"/>
          </a:xfrm>
          <a:prstGeom prst="rect">
            <a:avLst/>
          </a:prstGeom>
          <a:noFill/>
          <a:ln/>
        </p:spPr>
        <p:txBody>
          <a:bodyPr wrap="square" lIns="0" tIns="0" rIns="0" bIns="0" rtlCol="0" anchor="t"/>
          <a:lstStyle/>
          <a:p>
            <a:pPr indent="0" marL="0">
              <a:buNone/>
            </a:pPr>
            <a:r>
              <a:rPr lang="en-US" sz="2600" dirty="0">
                <a:solidFill>
                  <a:schemeClr val="accent5"/>
                </a:solidFill>
                <a:latin typeface="Cambria" pitchFamily="34" charset="0"/>
                <a:ea typeface="Cambria" pitchFamily="34" charset="-122"/>
                <a:cs typeface="Cambria" pitchFamily="34" charset="-120"/>
              </a:rPr>
              <a:t>Plan once. Teach. Let the system keep the records.</a:t>
            </a:r>
            <a:endParaRPr lang="en-US" sz="2600" dirty="0"/>
          </a:p>
        </p:txBody>
      </p:sp>
      <p:sp>
        <p:nvSpPr>
          <p:cNvPr id="5" name="Text 0"/>
          <p:cNvSpPr/>
          <p:nvPr>
            <p:ph idx="103" type="body" hasCustomPrompt="1"/>
          </p:nvPr>
        </p:nvSpPr>
        <p:spPr>
          <a:xfrm>
            <a:off x="731520" y="5852160"/>
            <a:ext cx="10515600" cy="411480"/>
          </a:xfrm>
          <a:prstGeom prst="rect">
            <a:avLst/>
          </a:prstGeom>
          <a:noFill/>
          <a:ln/>
        </p:spPr>
        <p:txBody>
          <a:bodyPr wrap="square" lIns="0" tIns="0" rIns="0" bIns="0" rtlCol="0"/>
          <a:lstStyle/>
          <a:p>
            <a:pPr indent="0" marL="0">
              <a:buNone/>
            </a:pPr>
            <a:r>
              <a:rPr lang="en-US" sz="1600" dirty="0">
                <a:solidFill>
                  <a:schemeClr val="accent3"/>
                </a:solidFill>
              </a:rPr>
              <a:t>Live demo  ·  Questions  ·  Prof. Mayur Aggarwal</a:t>
            </a:r>
            <a:endParaRPr lang="en-US" sz="1600" dirty="0"/>
          </a:p>
        </p:txBody>
      </p:sp>
    </p:spTree>
  </p:cSld>
  <p:clrMapOvr>
    <a:masterClrMapping/>
  </p:clrMapOvr>
</p:sld>
</file>

<file path=ppt/theme/theme1.xml><?xml version="1.0" encoding="utf-8"?>
<a:theme xmlns:a="http://schemas.openxmlformats.org/drawingml/2006/main" name="CampusFlow">
  <a:themeElements>
    <a:clrScheme name="CampusFlow">
      <a:dk1>
        <a:srgbClr val="14213D"/>
      </a:dk1>
      <a:lt1>
        <a:srgbClr val="FFFFFF"/>
      </a:lt1>
      <a:dk2>
        <a:srgbClr val="4A5568"/>
      </a:dk2>
      <a:lt2>
        <a:srgbClr val="EAEEF5"/>
      </a:lt2>
      <a:accent1>
        <a:srgbClr val="2F5BEA"/>
      </a:accent1>
      <a:accent2>
        <a:srgbClr val="C2571A"/>
      </a:accent2>
      <a:accent3>
        <a:srgbClr val="9DB4FF"/>
      </a:accent3>
      <a:accent4>
        <a:srgbClr val="1A8A5A"/>
      </a:accent4>
      <a:accent5>
        <a:srgbClr val="DCE3F2"/>
      </a:accent5>
      <a:accent6>
        <a:srgbClr val="1F2F52"/>
      </a:accent6>
      <a:hlink>
        <a:srgbClr val="2F5BEA"/>
      </a:hlink>
      <a:folHlink>
        <a:srgbClr val="6A4FC2"/>
      </a:folHlink>
    </a:clrScheme>
    <a:fontScheme name="Campus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CampusFlow LMS - Principal Showcase</dc:title>
  <dc:subject>PptxGenJS Presentation</dc:subject>
  <dc:creator>Prof. Mayur Aggarwal</dc:creator>
  <cp:lastModifiedBy>Prof. Mayur Aggarwal</cp:lastModifiedBy>
  <cp:revision>1</cp:revision>
  <dcterms:created xsi:type="dcterms:W3CDTF">2026-10-13T14:25:04Z</dcterms:created>
  <dcterms:modified xsi:type="dcterms:W3CDTF">2026-10-13T14:25:04Z</dcterms:modified>
</cp:coreProperties>
</file>