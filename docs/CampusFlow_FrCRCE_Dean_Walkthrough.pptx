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ab09638-0154-e994-38df-982291ea6d6b}">
          <p14:sldIdLst>
            <p14:sldId id="256"/>
            <p14:sldId id="257"/>
            <p14:sldId id="258"/>
          </p14:sldIdLst>
        </p14:section>
        <p14:section name="Walkthrough" id="{3db2d195-a9a2-8be8-6013-6286e4adae95}">
          <p14:sldIdLst>
            <p14:sldId id="259"/>
            <p14:sldId id="260"/>
            <p14:sldId id="261"/>
            <p14:sldId id="262"/>
            <p14:sldId id="263"/>
            <p14:sldId id="264"/>
            <p14:sldId id="265"/>
            <p14:sldId id="266"/>
            <p14:sldId id="267"/>
          </p14:sldIdLst>
        </p14:section>
        <p14:section name="People" id="{9d22b47d-6342-0d75-2b0d-dc4ad020611e}">
          <p14:sldIdLst>
            <p14:sldId id="268"/>
            <p14:sldId id="269"/>
          </p14:sldIdLst>
        </p14:section>
        <p14:section name="Proposal" id="{f59eaa76-4e57-7f8a-1752-ee9019a1baa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the rule book, the timetable, the marks and the deadlines live in one place, so the Dean’s office stops reconciling spreadsheets. This is a live system already loaded with Fr. CRCE’s publicly available programmes, departments and R2024 rules. Keep the demo open in another tab: admin for institution views, teacher for course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with facts the Dean already knows: autonomy under R2024 from 2024-25, NAAC A with CGPA 3.18, NBA for Computer Engineering and Electronics &amp; Computer Science, five active programmes. Autonomy brings paper setting, CIE, results and re-exams in-house, and the Dean’s office carries those deadlines. Everything here came from public sources; invite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the rule, the work it creates for the office, and the screen that handles it. Grade penalties for special and re-exams and the FY to SY credit condition are configured during the pilot. Ask the Dean which of these five costs the office the most time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for the next twenty minutes. Stops 1 and 2 are the Dean’s settings, 3 to 6 are what a faculty member does in a term, 7 and 8 are how the office keeps everyone on schedule. If time is short, do stops 2, 5, 6 and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log in as admin, Institution → Overview. Point at intake, students studying and the NBA badges for Computer Engineering and ECS. Student numbers are demo students; programmes, departments, HODs and rules come from public sources and should be confirmed by the college.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Institution → Rules. Read across minimum attendance (75 at every level), then the pass-mark row: 40 for B.Tech and 45 for M.Tech as institute rules. A looser rule than AICTE is flagged. During the pilot the full R2024 rule book is entered with the exam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log in as teacher, open CS201, Learning plan. 45 sessions, 22 delivered, each with CO and Bloom level. Click “Lesson plan (dept. format)” for the printable version. An existing Word lesson plan can be imported 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Teaching → Holidays &amp; schedule. Declare a holiday and show the plan shifting; add a supplementary Saturday. Then Attendance: marked vs pending per course. In a course, Attendance → Compare with biometric.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CS201 → Gradebook → CIE report. Columns grouped by head with bucket marks and weight; NE and AB. Export CSV. The weights shown are the demo scheme; Exams → Assessment scheme sets them per course to R2024.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CS201 → CO attainment. CO1 and CO2 at level 3, CO3 at level 2, CO4 and CO5 not yet assessed: the remaining assessments must cover them. Level bands and the ESE weight are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as admin, Institution → Deadlines timetable. MSE papers 1/1 done; attendance overdue with one course pending. Open a deadline to see each course and teacher. Add one live: ESE papers, Computer Engineering, third year; everyone affected sees it in their notification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log in as teacher on a phone and tap the bell. Red is overdue, amber due soon, blue upcoming; each links to where the work is done. Mark the pending attendance and the item moves to Recently cleared. No app needed: any phone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Students → All students, open a final-year demo student. Six semesters passed, semester 7 in progress, CGPA with (CGPA − 0.75) × 10. These are labelled demo students; no real student data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Faculty &amp; HR → Faculty &amp; staff, then Workload allocation. Demo workloads and ratings are placeholders, so focus on how it works, not individual numbers. AICTE weekly norms of 14, 16 and 18 hours live in the rules and can be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walkthrough as the questions the Dean’s office asks every term, each answered on one screen. Ask which question the Dean would add; it becomes a pilot success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 a small, low-risk start: one department, one or two years, one term. Computer Engineering is suggested because of its NBA cycle, but let the Dean choose. Fill in dates, number of faculty and divisions with the Dean. The existing process runs in parallel during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agree the pilot scope (department, years, term) and a coordinator. Share demo logins only with the people who will try it, and change the demo passwords before sharing widely. College data came from public sources; student and workload figures are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CampusFlow · Academic walkthrough for Fr. CRCE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and">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CampusFlow · Academic walkthrough for Fr. CRCE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rtlCol="0"/>
          <a:lstStyle>
            <a:lvl1pPr indent="0" marL="0">
              <a:buNone/>
              <a:defRPr lang="en-US" sz="3000" b="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CampusFlow · Academic walkthrough for Fr. CRCE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10515600" cy="365760"/>
          </a:xfrm>
          <a:prstGeom prst="rect">
            <a:avLst/>
          </a:prstGeom>
          <a:noFill/>
          <a:ln/>
        </p:spPr>
        <p:txBody>
          <a:bodyPr wrap="square" lIns="0" tIns="0" rIns="0" bIns="0" rtlCol="0" anchor="ctr"/>
          <a:lstStyle/>
          <a:p>
            <a:pPr indent="0" marL="0">
              <a:buNone/>
            </a:pPr>
            <a:r>
              <a:rPr lang="en-US" sz="1500" b="1" spc="300" kern="0" dirty="0">
                <a:solidFill>
                  <a:schemeClr val="accent2"/>
                </a:solidFill>
              </a:rPr>
              <a:t>A GUIDED WALKTHROUGH FOR THE DEAN OF ACADEMICS</a:t>
            </a:r>
            <a:endParaRPr lang="en-US" sz="1500" dirty="0"/>
          </a:p>
        </p:txBody>
      </p:sp>
      <p:sp>
        <p:nvSpPr>
          <p:cNvPr id="3" name="Text 1"/>
          <p:cNvSpPr txBox="1"/>
          <p:nvPr/>
        </p:nvSpPr>
        <p:spPr>
          <a:xfrm>
            <a:off x="731520" y="1371600"/>
            <a:ext cx="10515600" cy="2377440"/>
          </a:xfrm>
          <a:prstGeom prst="rect">
            <a:avLst/>
          </a:prstGeom>
          <a:noFill/>
          <a:ln/>
        </p:spPr>
        <p:txBody>
          <a:bodyPr wrap="square" lIns="0" tIns="0" rIns="0" bIns="0" rtlCol="0" anchor="t"/>
          <a:lstStyle/>
          <a:p>
            <a:pPr indent="0" marL="0">
              <a:buNone/>
            </a:pPr>
            <a:r>
              <a:rPr lang="en-US" sz="6000" b="1" dirty="0">
                <a:solidFill>
                  <a:schemeClr val="bg1"/>
                </a:solidFill>
                <a:latin typeface="Cambria" pitchFamily="34" charset="0"/>
                <a:ea typeface="Cambria" pitchFamily="34" charset="-122"/>
                <a:cs typeface="Cambria" pitchFamily="34" charset="-120"/>
              </a:rPr>
              <a:t>CampusFlow</a:t>
            </a:r>
            <a:endParaRPr lang="en-US" sz="6000" dirty="0"/>
          </a:p>
          <a:p>
            <a:pPr indent="0" marL="0">
              <a:buNone/>
            </a:pPr>
            <a:r>
              <a:rPr lang="en-US" sz="6000" b="1" dirty="0">
                <a:solidFill>
                  <a:schemeClr val="bg1"/>
                </a:solidFill>
                <a:latin typeface="Cambria" pitchFamily="34" charset="0"/>
                <a:ea typeface="Cambria" pitchFamily="34" charset="-122"/>
                <a:cs typeface="Cambria" pitchFamily="34" charset="-120"/>
              </a:rPr>
              <a:t>for Fr. CRCE</a:t>
            </a:r>
            <a:endParaRPr lang="en-US" sz="6000" dirty="0"/>
          </a:p>
        </p:txBody>
      </p:sp>
      <p:sp>
        <p:nvSpPr>
          <p:cNvPr id="4" name="Text 2"/>
          <p:cNvSpPr txBox="1"/>
          <p:nvPr/>
        </p:nvSpPr>
        <p:spPr>
          <a:xfrm>
            <a:off x="731520" y="3794760"/>
            <a:ext cx="9601200" cy="1097280"/>
          </a:xfrm>
          <a:prstGeom prst="rect">
            <a:avLst/>
          </a:prstGeom>
          <a:noFill/>
          <a:ln/>
        </p:spPr>
        <p:txBody>
          <a:bodyPr wrap="square" lIns="0" tIns="0" rIns="0" bIns="0" rtlCol="0" anchor="t"/>
          <a:lstStyle/>
          <a:p>
            <a:pPr indent="0" marL="0">
              <a:buNone/>
            </a:pPr>
            <a:r>
              <a:rPr lang="en-US" sz="2000" dirty="0">
                <a:solidFill>
                  <a:schemeClr val="accent6"/>
                </a:solidFill>
              </a:rPr>
              <a:t>One academic system where R2024, the timetable, the marks and the deadlines agree, from the first lecture to the CO attainment report.</a:t>
            </a:r>
            <a:endParaRPr lang="en-US" sz="2000" dirty="0"/>
          </a:p>
        </p:txBody>
      </p:sp>
      <p:sp>
        <p:nvSpPr>
          <p:cNvPr id="5" name="Text 3"/>
          <p:cNvSpPr txBox="1"/>
          <p:nvPr/>
        </p:nvSpPr>
        <p:spPr>
          <a:xfrm>
            <a:off x="731520" y="5989320"/>
            <a:ext cx="7772400" cy="365760"/>
          </a:xfrm>
          <a:prstGeom prst="rect">
            <a:avLst/>
          </a:prstGeom>
          <a:noFill/>
          <a:ln/>
        </p:spPr>
        <p:txBody>
          <a:bodyPr wrap="square" lIns="0" tIns="0" rIns="0" bIns="0" rtlCol="0" anchor="ctr"/>
          <a:lstStyle/>
          <a:p>
            <a:pPr indent="0" marL="0">
              <a:buNone/>
            </a:pPr>
            <a:r>
              <a:rPr lang="en-US" sz="1400" dirty="0">
                <a:solidFill>
                  <a:schemeClr val="accent6"/>
                </a:solidFill>
              </a:rPr>
              <a:t>Prepared for Fr. Conceicao Rodrigues College of Engineering, Bandra</a:t>
            </a:r>
            <a:endParaRPr lang="en-US" sz="1400" dirty="0"/>
          </a:p>
        </p:txBody>
      </p:sp>
      <p:sp>
        <p:nvSpPr>
          <p:cNvPr id="6" name="Text 4"/>
          <p:cNvSpPr txBox="1"/>
          <p:nvPr/>
        </p:nvSpPr>
        <p:spPr>
          <a:xfrm>
            <a:off x="8961120" y="5989320"/>
            <a:ext cx="2514600" cy="365760"/>
          </a:xfrm>
          <a:prstGeom prst="rect">
            <a:avLst/>
          </a:prstGeom>
          <a:noFill/>
          <a:ln/>
        </p:spPr>
        <p:txBody>
          <a:bodyPr wrap="square" lIns="0" tIns="0" rIns="0" bIns="0" rtlCol="0" anchor="ctr"/>
          <a:lstStyle/>
          <a:p>
            <a:pPr algn="r" indent="0" marL="0">
              <a:buNone/>
            </a:pPr>
            <a:r>
              <a:rPr lang="en-US" sz="1400" dirty="0">
                <a:solidFill>
                  <a:schemeClr val="accent6"/>
                </a:solidFill>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WHERE FR. CRCE STANDS</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Autonomous, accredited and growing</a:t>
            </a:r>
            <a:endParaRPr lang="en-US" sz="3000" dirty="0"/>
          </a:p>
        </p:txBody>
      </p:sp>
      <p:sp>
        <p:nvSpPr>
          <p:cNvPr id="4" name="Stat card 1"/>
          <p:cNvSpPr/>
          <p:nvPr/>
        </p:nvSpPr>
        <p:spPr>
          <a:xfrm>
            <a:off x="548640" y="1737360"/>
            <a:ext cx="2606040" cy="2606040"/>
          </a:xfrm>
          <a:prstGeom prst="roundRect">
            <a:avLst>
              <a:gd name="adj" fmla="val 4211"/>
            </a:avLst>
          </a:prstGeom>
          <a:solidFill>
            <a:schemeClr val="bg1"/>
          </a:solidFill>
          <a:ln w="9525">
            <a:solidFill>
              <a:schemeClr val="accent5"/>
            </a:solidFill>
            <a:prstDash val="solid"/>
          </a:ln>
        </p:spPr>
      </p:sp>
      <p:sp>
        <p:nvSpPr>
          <p:cNvPr id="5" name="Text 3"/>
          <p:cNvSpPr txBox="1"/>
          <p:nvPr/>
        </p:nvSpPr>
        <p:spPr>
          <a:xfrm>
            <a:off x="822960" y="1920240"/>
            <a:ext cx="20574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R2024</a:t>
            </a:r>
            <a:endParaRPr lang="en-US" sz="3000" dirty="0"/>
          </a:p>
        </p:txBody>
      </p:sp>
      <p:sp>
        <p:nvSpPr>
          <p:cNvPr id="6" name="Text 4"/>
          <p:cNvSpPr txBox="1"/>
          <p:nvPr/>
        </p:nvSpPr>
        <p:spPr>
          <a:xfrm>
            <a:off x="822960" y="2697480"/>
            <a:ext cx="2057400" cy="15087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Own rule book</a:t>
            </a:r>
            <a:endParaRPr lang="en-US" sz="1600" dirty="0"/>
          </a:p>
          <a:p>
            <a:pPr indent="0" marL="0">
              <a:spcAft>
                <a:spcPts val="400"/>
              </a:spcAft>
              <a:buNone/>
            </a:pPr>
            <a:r>
              <a:rPr lang="en-US" sz="1300" dirty="0">
                <a:solidFill>
                  <a:schemeClr val="tx2"/>
                </a:solidFill>
              </a:rPr>
              <a:t>Autonomous from AY 2024-25 under Academic Rule Book R2024</a:t>
            </a:r>
            <a:endParaRPr lang="en-US" sz="1600" dirty="0"/>
          </a:p>
        </p:txBody>
      </p:sp>
      <p:sp>
        <p:nvSpPr>
          <p:cNvPr id="7" name="Stat card 2"/>
          <p:cNvSpPr/>
          <p:nvPr/>
        </p:nvSpPr>
        <p:spPr>
          <a:xfrm>
            <a:off x="3367735" y="1737360"/>
            <a:ext cx="2606040" cy="2606040"/>
          </a:xfrm>
          <a:prstGeom prst="roundRect">
            <a:avLst>
              <a:gd name="adj" fmla="val 4211"/>
            </a:avLst>
          </a:prstGeom>
          <a:solidFill>
            <a:schemeClr val="bg1"/>
          </a:solidFill>
          <a:ln w="9525">
            <a:solidFill>
              <a:schemeClr val="accent5"/>
            </a:solidFill>
            <a:prstDash val="solid"/>
          </a:ln>
        </p:spPr>
      </p:sp>
      <p:sp>
        <p:nvSpPr>
          <p:cNvPr id="8" name="Text 6"/>
          <p:cNvSpPr txBox="1"/>
          <p:nvPr/>
        </p:nvSpPr>
        <p:spPr>
          <a:xfrm>
            <a:off x="3642055" y="1920240"/>
            <a:ext cx="20574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A · 3.18</a:t>
            </a:r>
            <a:endParaRPr lang="en-US" sz="3000" dirty="0"/>
          </a:p>
        </p:txBody>
      </p:sp>
      <p:sp>
        <p:nvSpPr>
          <p:cNvPr id="9" name="Text 7"/>
          <p:cNvSpPr txBox="1"/>
          <p:nvPr/>
        </p:nvSpPr>
        <p:spPr>
          <a:xfrm>
            <a:off x="3642055" y="2697480"/>
            <a:ext cx="2057400" cy="15087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NAAC grade</a:t>
            </a:r>
            <a:endParaRPr lang="en-US" sz="1600" dirty="0"/>
          </a:p>
          <a:p>
            <a:pPr indent="0" marL="0">
              <a:spcAft>
                <a:spcPts val="400"/>
              </a:spcAft>
              <a:buNone/>
            </a:pPr>
            <a:r>
              <a:rPr lang="en-US" sz="1300" dirty="0">
                <a:solidFill>
                  <a:schemeClr val="tx2"/>
                </a:solidFill>
              </a:rPr>
              <a:t>Grade and CGPA as published by the college</a:t>
            </a:r>
            <a:endParaRPr lang="en-US" sz="1600" dirty="0"/>
          </a:p>
        </p:txBody>
      </p:sp>
      <p:sp>
        <p:nvSpPr>
          <p:cNvPr id="10" name="Stat card 3"/>
          <p:cNvSpPr/>
          <p:nvPr/>
        </p:nvSpPr>
        <p:spPr>
          <a:xfrm>
            <a:off x="6186830" y="1737360"/>
            <a:ext cx="2606040" cy="2606040"/>
          </a:xfrm>
          <a:prstGeom prst="roundRect">
            <a:avLst>
              <a:gd name="adj" fmla="val 4211"/>
            </a:avLst>
          </a:prstGeom>
          <a:solidFill>
            <a:schemeClr val="bg1"/>
          </a:solidFill>
          <a:ln w="9525">
            <a:solidFill>
              <a:schemeClr val="accent5"/>
            </a:solidFill>
            <a:prstDash val="solid"/>
          </a:ln>
        </p:spPr>
      </p:sp>
      <p:sp>
        <p:nvSpPr>
          <p:cNvPr id="11" name="Text 9"/>
          <p:cNvSpPr txBox="1"/>
          <p:nvPr/>
        </p:nvSpPr>
        <p:spPr>
          <a:xfrm>
            <a:off x="6461150" y="1920240"/>
            <a:ext cx="20574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12" name="Text 10"/>
          <p:cNvSpPr txBox="1"/>
          <p:nvPr/>
        </p:nvSpPr>
        <p:spPr>
          <a:xfrm>
            <a:off x="6461150" y="2697480"/>
            <a:ext cx="2057400" cy="15087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NBA programmes</a:t>
            </a:r>
            <a:endParaRPr lang="en-US" sz="1600" dirty="0"/>
          </a:p>
          <a:p>
            <a:pPr indent="0" marL="0">
              <a:spcAft>
                <a:spcPts val="400"/>
              </a:spcAft>
              <a:buNone/>
            </a:pPr>
            <a:r>
              <a:rPr lang="en-US" sz="1300" dirty="0">
                <a:solidFill>
                  <a:schemeClr val="tx2"/>
                </a:solidFill>
              </a:rPr>
              <a:t>B.Tech Computer Engineering and Electronics &amp; Computer Science</a:t>
            </a:r>
            <a:endParaRPr lang="en-US" sz="1600" dirty="0"/>
          </a:p>
        </p:txBody>
      </p:sp>
      <p:sp>
        <p:nvSpPr>
          <p:cNvPr id="13" name="Stat card 4"/>
          <p:cNvSpPr/>
          <p:nvPr/>
        </p:nvSpPr>
        <p:spPr>
          <a:xfrm>
            <a:off x="9005926" y="1737360"/>
            <a:ext cx="2606040" cy="2606040"/>
          </a:xfrm>
          <a:prstGeom prst="roundRect">
            <a:avLst>
              <a:gd name="adj" fmla="val 4211"/>
            </a:avLst>
          </a:prstGeom>
          <a:solidFill>
            <a:schemeClr val="bg1"/>
          </a:solidFill>
          <a:ln w="9525">
            <a:solidFill>
              <a:schemeClr val="accent5"/>
            </a:solidFill>
            <a:prstDash val="solid"/>
          </a:ln>
        </p:spPr>
      </p:sp>
      <p:sp>
        <p:nvSpPr>
          <p:cNvPr id="14" name="Text 12"/>
          <p:cNvSpPr txBox="1"/>
          <p:nvPr/>
        </p:nvSpPr>
        <p:spPr>
          <a:xfrm>
            <a:off x="9280246" y="1920240"/>
            <a:ext cx="205740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5</a:t>
            </a:r>
            <a:endParaRPr lang="en-US" sz="3000" dirty="0"/>
          </a:p>
        </p:txBody>
      </p:sp>
      <p:sp>
        <p:nvSpPr>
          <p:cNvPr id="15" name="Text 13"/>
          <p:cNvSpPr txBox="1"/>
          <p:nvPr/>
        </p:nvSpPr>
        <p:spPr>
          <a:xfrm>
            <a:off x="9280246" y="2697480"/>
            <a:ext cx="2057400" cy="150876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Active programmes</a:t>
            </a:r>
            <a:endParaRPr lang="en-US" sz="1600" dirty="0"/>
          </a:p>
          <a:p>
            <a:pPr indent="0" marL="0">
              <a:spcAft>
                <a:spcPts val="400"/>
              </a:spcAft>
              <a:buNone/>
            </a:pPr>
            <a:r>
              <a:rPr lang="en-US" sz="1300" dirty="0">
                <a:solidFill>
                  <a:schemeClr val="tx2"/>
                </a:solidFill>
              </a:rPr>
              <a:t>B.Tech COMP, CSE, ECS and MECH, plus M.Tech Computer</a:t>
            </a:r>
            <a:endParaRPr lang="en-US" sz="1600" dirty="0"/>
          </a:p>
        </p:txBody>
      </p:sp>
      <p:sp>
        <p:nvSpPr>
          <p:cNvPr id="16" name="Text 14"/>
          <p:cNvSpPr txBox="1"/>
          <p:nvPr/>
        </p:nvSpPr>
        <p:spPr>
          <a:xfrm>
            <a:off x="548640" y="4663440"/>
            <a:ext cx="10241280" cy="822960"/>
          </a:xfrm>
          <a:prstGeom prst="rect">
            <a:avLst/>
          </a:prstGeom>
          <a:noFill/>
          <a:ln/>
        </p:spPr>
        <p:txBody>
          <a:bodyPr wrap="square" lIns="0" tIns="0" rIns="0" bIns="0" rtlCol="0" anchor="t"/>
          <a:lstStyle/>
          <a:p>
            <a:pPr indent="0" marL="0">
              <a:buNone/>
            </a:pPr>
            <a:r>
              <a:rPr lang="en-US" sz="1800" dirty="0">
                <a:solidFill>
                  <a:schemeClr val="tx1"/>
                </a:solidFill>
              </a:rPr>
              <a:t>Autonomy moves the rule book, the question papers, the CIE and the results into the college. The Dean’s office now owns every one of those deadlines.</a:t>
            </a:r>
            <a:endParaRPr lang="en-US" sz="1800" dirty="0"/>
          </a:p>
        </p:txBody>
      </p:sp>
      <p:sp>
        <p:nvSpPr>
          <p:cNvPr id="17" name="Text 15"/>
          <p:cNvSpPr txBox="1"/>
          <p:nvPr/>
        </p:nvSpPr>
        <p:spPr>
          <a:xfrm>
            <a:off x="548640" y="5943600"/>
            <a:ext cx="10515600" cy="274320"/>
          </a:xfrm>
          <a:prstGeom prst="rect">
            <a:avLst/>
          </a:prstGeom>
          <a:noFill/>
          <a:ln/>
        </p:spPr>
        <p:txBody>
          <a:bodyPr wrap="square" lIns="0" tIns="0" rIns="0" bIns="0" rtlCol="0" anchor="ctr"/>
          <a:lstStyle/>
          <a:p>
            <a:pPr indent="0" marL="0">
              <a:buNone/>
            </a:pPr>
            <a:r>
              <a:rPr lang="en-US" sz="1000" i="1" dirty="0">
                <a:solidFill>
                  <a:schemeClr val="accent4"/>
                </a:solidFill>
              </a:rPr>
              <a:t>Source: the college’s public pages and disclosures, compiled October 2026; to be confirmed with the college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WHAT R2024 ASKS THE ACADEMIC OFFICE TO RUN</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Five rules, five things to track</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566160"/>
                <a:gridCol w="3749040"/>
                <a:gridCol w="3749040"/>
              </a:tblGrid>
              <a:tr h="566928">
                <a:tc>
                  <a:txBody>
                    <a:bodyPr/>
                    <a:lstStyle/>
                    <a:p>
                      <a:pPr indent="0" marL="0">
                        <a:buNone/>
                      </a:pPr>
                      <a:r>
                        <a:rPr lang="en-US" sz="1500" b="1" dirty="0">
                          <a:solidFill>
                            <a:schemeClr val="bg1"/>
                          </a:solidFill>
                        </a:rPr>
                        <a:t>R2024 rule</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the office must track</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Where CampusFlow does it</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75% attendance to sit MSE / ESE</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Attendance per course, defaulter lists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Attendance, checked against biometric punches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r h="566928">
                <a:tc>
                  <a:txBody>
                    <a:bodyPr/>
                    <a:lstStyle/>
                    <a:p>
                      <a:pPr indent="0" marL="0">
                        <a:buNone/>
                      </a:pPr>
                      <a:r>
                        <a:rPr lang="en-US" sz="1500" dirty="0">
                          <a:solidFill>
                            <a:schemeClr val="tx1"/>
                          </a:solidFill>
                        </a:rPr>
                        <a:t>ISE 20 + MSE 30 + ESE 100 (scaled)</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500" dirty="0">
                          <a:solidFill>
                            <a:schemeClr val="tx1"/>
                          </a:solidFill>
                        </a:rPr>
                        <a:t>Marks per head and CIE totals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500" dirty="0">
                          <a:solidFill>
                            <a:schemeClr val="tx1"/>
                          </a:solidFill>
                        </a:rPr>
                        <a:t>Assessment scheme and CIE report</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r>
              <a:tr h="566928">
                <a:tc>
                  <a:txBody>
                    <a:bodyPr/>
                    <a:lstStyle/>
                    <a:p>
                      <a:pPr indent="0" marL="0">
                        <a:buNone/>
                      </a:pPr>
                      <a:r>
                        <a:rPr lang="en-US" sz="1500" dirty="0">
                          <a:solidFill>
                            <a:schemeClr val="tx1"/>
                          </a:solidFill>
                        </a:rPr>
                        <a:t>Pass at 40% UG / 45% PG, no grace</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Result rules per programme</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Rules framework, per programme</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r h="566928">
                <a:tc>
                  <a:txBody>
                    <a:bodyPr/>
                    <a:lstStyle/>
                    <a:p>
                      <a:pPr indent="0" marL="0">
                        <a:buNone/>
                      </a:pPr>
                      <a:r>
                        <a:rPr lang="en-US" sz="1500" dirty="0">
                          <a:solidFill>
                            <a:schemeClr val="tx1"/>
                          </a:solidFill>
                        </a:rPr>
                        <a:t>Special and re-exams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500" dirty="0">
                          <a:solidFill>
                            <a:schemeClr val="tx1"/>
                          </a:solidFill>
                        </a:rPr>
                        <a:t>Eligible candidates, separate papers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500" dirty="0">
                          <a:solidFill>
                            <a:schemeClr val="tx1"/>
                          </a:solidFill>
                        </a:rPr>
                        <a:t>Re-exams and additional assessments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r>
              <a:tr h="566928">
                <a:tc>
                  <a:txBody>
                    <a:bodyPr/>
                    <a:lstStyle/>
                    <a:p>
                      <a:pPr indent="0" marL="0">
                        <a:buNone/>
                      </a:pPr>
                      <a:r>
                        <a:rPr lang="en-US" sz="1500" dirty="0">
                          <a:solidFill>
                            <a:schemeClr val="tx1"/>
                          </a:solidFill>
                        </a:rPr>
                        <a:t>CO attainment for NBA</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CO-tagged questions and rubrics</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rPr>
                        <a:t>CO attainment report</a:t>
                      </a:r>
                      <a:endParaRPr lang="en-US" sz="1500" dirty="0"/>
                    </a:p>
                  </a:txBody>
                  <a:tcPr marL="109728" marR="109728"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943600"/>
            <a:ext cx="10515600" cy="274320"/>
          </a:xfrm>
          <a:prstGeom prst="rect">
            <a:avLst/>
          </a:prstGeom>
          <a:noFill/>
          <a:ln/>
        </p:spPr>
        <p:txBody>
          <a:bodyPr wrap="square" lIns="0" tIns="0" rIns="0" bIns="0" rtlCol="0" anchor="ctr"/>
          <a:lstStyle/>
          <a:p>
            <a:pPr indent="0" marL="0">
              <a:buNone/>
            </a:pPr>
            <a:r>
              <a:rPr lang="en-US" sz="1000" i="1" dirty="0">
                <a:solidFill>
                  <a:schemeClr val="accent4"/>
                </a:solidFill>
              </a:rPr>
              <a:t>Rules as summarised from the R2024 rule book; exact weightages to be confirmed with the exam cell</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THE WALKTHROUGH</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Eight stops through the live system</a:t>
            </a:r>
            <a:endParaRPr lang="en-US" sz="3000" dirty="0"/>
          </a:p>
        </p:txBody>
      </p:sp>
      <p:sp>
        <p:nvSpPr>
          <p:cNvPr id="4" name="Stop 1"/>
          <p:cNvSpPr/>
          <p:nvPr/>
        </p:nvSpPr>
        <p:spPr>
          <a:xfrm>
            <a:off x="548640" y="1737360"/>
            <a:ext cx="2615184" cy="1691640"/>
          </a:xfrm>
          <a:prstGeom prst="roundRect">
            <a:avLst>
              <a:gd name="adj" fmla="val 6486"/>
            </a:avLst>
          </a:prstGeom>
          <a:solidFill>
            <a:schemeClr val="accent3"/>
          </a:solidFill>
          <a:ln w="12700">
            <a:solidFill>
              <a:schemeClr val="accent3"/>
            </a:solidFill>
            <a:prstDash val="solid"/>
          </a:ln>
        </p:spPr>
      </p:sp>
      <p:sp>
        <p:nvSpPr>
          <p:cNvPr id="5" name="Text 3"/>
          <p:cNvSpPr txBox="1"/>
          <p:nvPr/>
        </p:nvSpPr>
        <p:spPr>
          <a:xfrm>
            <a:off x="777240" y="192024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1</a:t>
            </a:r>
            <a:endParaRPr lang="en-US" sz="2800" dirty="0"/>
          </a:p>
          <a:p>
            <a:pPr indent="0" marL="0">
              <a:spcAft>
                <a:spcPts val="600"/>
              </a:spcAft>
              <a:buNone/>
            </a:pPr>
            <a:r>
              <a:rPr lang="en-US" sz="1600" b="1" dirty="0">
                <a:solidFill>
                  <a:schemeClr val="bg1"/>
                </a:solidFill>
              </a:rPr>
              <a:t>Institution and programmes</a:t>
            </a:r>
            <a:endParaRPr lang="en-US" sz="2800" dirty="0"/>
          </a:p>
        </p:txBody>
      </p:sp>
      <p:sp>
        <p:nvSpPr>
          <p:cNvPr id="6" name="Stop 2"/>
          <p:cNvSpPr/>
          <p:nvPr/>
        </p:nvSpPr>
        <p:spPr>
          <a:xfrm>
            <a:off x="3364992" y="1737360"/>
            <a:ext cx="2615184" cy="1691640"/>
          </a:xfrm>
          <a:prstGeom prst="roundRect">
            <a:avLst>
              <a:gd name="adj" fmla="val 6486"/>
            </a:avLst>
          </a:prstGeom>
          <a:solidFill>
            <a:schemeClr val="accent3"/>
          </a:solidFill>
          <a:ln w="12700">
            <a:solidFill>
              <a:schemeClr val="accent3"/>
            </a:solidFill>
            <a:prstDash val="solid"/>
          </a:ln>
        </p:spPr>
      </p:sp>
      <p:sp>
        <p:nvSpPr>
          <p:cNvPr id="7" name="Text 5"/>
          <p:cNvSpPr txBox="1"/>
          <p:nvPr/>
        </p:nvSpPr>
        <p:spPr>
          <a:xfrm>
            <a:off x="3593592" y="192024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2</a:t>
            </a:r>
            <a:endParaRPr lang="en-US" sz="2800" dirty="0"/>
          </a:p>
          <a:p>
            <a:pPr indent="0" marL="0">
              <a:spcAft>
                <a:spcPts val="600"/>
              </a:spcAft>
              <a:buNone/>
            </a:pPr>
            <a:r>
              <a:rPr lang="en-US" sz="1600" b="1" dirty="0">
                <a:solidFill>
                  <a:schemeClr val="bg1"/>
                </a:solidFill>
              </a:rPr>
              <a:t>Rules: AICTE, MU, R2024</a:t>
            </a:r>
            <a:endParaRPr lang="en-US" sz="2800" dirty="0"/>
          </a:p>
        </p:txBody>
      </p:sp>
      <p:sp>
        <p:nvSpPr>
          <p:cNvPr id="8" name="Stop 3"/>
          <p:cNvSpPr/>
          <p:nvPr/>
        </p:nvSpPr>
        <p:spPr>
          <a:xfrm>
            <a:off x="6181344" y="1737360"/>
            <a:ext cx="2615184" cy="1691640"/>
          </a:xfrm>
          <a:prstGeom prst="roundRect">
            <a:avLst>
              <a:gd name="adj" fmla="val 6486"/>
            </a:avLst>
          </a:prstGeom>
          <a:solidFill>
            <a:schemeClr val="accent3"/>
          </a:solidFill>
          <a:ln w="12700">
            <a:solidFill>
              <a:schemeClr val="accent3"/>
            </a:solidFill>
            <a:prstDash val="solid"/>
          </a:ln>
        </p:spPr>
      </p:sp>
      <p:sp>
        <p:nvSpPr>
          <p:cNvPr id="9" name="Text 7"/>
          <p:cNvSpPr txBox="1"/>
          <p:nvPr/>
        </p:nvSpPr>
        <p:spPr>
          <a:xfrm>
            <a:off x="6409944" y="192024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3</a:t>
            </a:r>
            <a:endParaRPr lang="en-US" sz="2800" dirty="0"/>
          </a:p>
          <a:p>
            <a:pPr indent="0" marL="0">
              <a:spcAft>
                <a:spcPts val="600"/>
              </a:spcAft>
              <a:buNone/>
            </a:pPr>
            <a:r>
              <a:rPr lang="en-US" sz="1600" b="1" dirty="0">
                <a:solidFill>
                  <a:schemeClr val="bg1"/>
                </a:solidFill>
              </a:rPr>
              <a:t>Syllabus to lesson plan</a:t>
            </a:r>
            <a:endParaRPr lang="en-US" sz="2800" dirty="0"/>
          </a:p>
        </p:txBody>
      </p:sp>
      <p:sp>
        <p:nvSpPr>
          <p:cNvPr id="10" name="Stop 4"/>
          <p:cNvSpPr/>
          <p:nvPr/>
        </p:nvSpPr>
        <p:spPr>
          <a:xfrm>
            <a:off x="8997696" y="1737360"/>
            <a:ext cx="2615184" cy="1691640"/>
          </a:xfrm>
          <a:prstGeom prst="roundRect">
            <a:avLst>
              <a:gd name="adj" fmla="val 6486"/>
            </a:avLst>
          </a:prstGeom>
          <a:solidFill>
            <a:schemeClr val="accent3"/>
          </a:solidFill>
          <a:ln w="12700">
            <a:solidFill>
              <a:schemeClr val="accent3"/>
            </a:solidFill>
            <a:prstDash val="solid"/>
          </a:ln>
        </p:spPr>
      </p:sp>
      <p:sp>
        <p:nvSpPr>
          <p:cNvPr id="11" name="Text 9"/>
          <p:cNvSpPr txBox="1"/>
          <p:nvPr/>
        </p:nvSpPr>
        <p:spPr>
          <a:xfrm>
            <a:off x="9226296" y="192024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4</a:t>
            </a:r>
            <a:endParaRPr lang="en-US" sz="2800" dirty="0"/>
          </a:p>
          <a:p>
            <a:pPr indent="0" marL="0">
              <a:spcAft>
                <a:spcPts val="600"/>
              </a:spcAft>
              <a:buNone/>
            </a:pPr>
            <a:r>
              <a:rPr lang="en-US" sz="1600" b="1" dirty="0">
                <a:solidFill>
                  <a:schemeClr val="bg1"/>
                </a:solidFill>
              </a:rPr>
              <a:t>Attendance and schedule changes</a:t>
            </a:r>
            <a:endParaRPr lang="en-US" sz="2800" dirty="0"/>
          </a:p>
        </p:txBody>
      </p:sp>
      <p:sp>
        <p:nvSpPr>
          <p:cNvPr id="12" name="Stop 5"/>
          <p:cNvSpPr/>
          <p:nvPr/>
        </p:nvSpPr>
        <p:spPr>
          <a:xfrm>
            <a:off x="548640" y="3657600"/>
            <a:ext cx="2615184" cy="1691640"/>
          </a:xfrm>
          <a:prstGeom prst="roundRect">
            <a:avLst>
              <a:gd name="adj" fmla="val 6486"/>
            </a:avLst>
          </a:prstGeom>
          <a:solidFill>
            <a:schemeClr val="accent3"/>
          </a:solidFill>
          <a:ln w="12700">
            <a:solidFill>
              <a:schemeClr val="accent3"/>
            </a:solidFill>
            <a:prstDash val="solid"/>
          </a:ln>
        </p:spPr>
      </p:sp>
      <p:sp>
        <p:nvSpPr>
          <p:cNvPr id="13" name="Text 11"/>
          <p:cNvSpPr txBox="1"/>
          <p:nvPr/>
        </p:nvSpPr>
        <p:spPr>
          <a:xfrm>
            <a:off x="777240" y="384048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5</a:t>
            </a:r>
            <a:endParaRPr lang="en-US" sz="2800" dirty="0"/>
          </a:p>
          <a:p>
            <a:pPr indent="0" marL="0">
              <a:spcAft>
                <a:spcPts val="600"/>
              </a:spcAft>
              <a:buNone/>
            </a:pPr>
            <a:r>
              <a:rPr lang="en-US" sz="1600" b="1" dirty="0">
                <a:solidFill>
                  <a:schemeClr val="bg1"/>
                </a:solidFill>
              </a:rPr>
              <a:t>Continuous internal evaluation</a:t>
            </a:r>
            <a:endParaRPr lang="en-US" sz="2800" dirty="0"/>
          </a:p>
        </p:txBody>
      </p:sp>
      <p:sp>
        <p:nvSpPr>
          <p:cNvPr id="14" name="Stop 6"/>
          <p:cNvSpPr/>
          <p:nvPr/>
        </p:nvSpPr>
        <p:spPr>
          <a:xfrm>
            <a:off x="3364992" y="3657600"/>
            <a:ext cx="2615184" cy="1691640"/>
          </a:xfrm>
          <a:prstGeom prst="roundRect">
            <a:avLst>
              <a:gd name="adj" fmla="val 6486"/>
            </a:avLst>
          </a:prstGeom>
          <a:solidFill>
            <a:schemeClr val="accent3"/>
          </a:solidFill>
          <a:ln w="12700">
            <a:solidFill>
              <a:schemeClr val="accent3"/>
            </a:solidFill>
            <a:prstDash val="solid"/>
          </a:ln>
        </p:spPr>
      </p:sp>
      <p:sp>
        <p:nvSpPr>
          <p:cNvPr id="15" name="Text 13"/>
          <p:cNvSpPr txBox="1"/>
          <p:nvPr/>
        </p:nvSpPr>
        <p:spPr>
          <a:xfrm>
            <a:off x="3593592" y="384048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6</a:t>
            </a:r>
            <a:endParaRPr lang="en-US" sz="2800" dirty="0"/>
          </a:p>
          <a:p>
            <a:pPr indent="0" marL="0">
              <a:spcAft>
                <a:spcPts val="600"/>
              </a:spcAft>
              <a:buNone/>
            </a:pPr>
            <a:r>
              <a:rPr lang="en-US" sz="1600" b="1" dirty="0">
                <a:solidFill>
                  <a:schemeClr val="bg1"/>
                </a:solidFill>
              </a:rPr>
              <a:t>CO attainment for NBA</a:t>
            </a:r>
            <a:endParaRPr lang="en-US" sz="2800" dirty="0"/>
          </a:p>
        </p:txBody>
      </p:sp>
      <p:sp>
        <p:nvSpPr>
          <p:cNvPr id="16" name="Stop 7"/>
          <p:cNvSpPr/>
          <p:nvPr/>
        </p:nvSpPr>
        <p:spPr>
          <a:xfrm>
            <a:off x="6181344" y="3657600"/>
            <a:ext cx="2615184" cy="1691640"/>
          </a:xfrm>
          <a:prstGeom prst="roundRect">
            <a:avLst>
              <a:gd name="adj" fmla="val 6486"/>
            </a:avLst>
          </a:prstGeom>
          <a:solidFill>
            <a:schemeClr val="accent3"/>
          </a:solidFill>
          <a:ln w="12700">
            <a:solidFill>
              <a:schemeClr val="accent3"/>
            </a:solidFill>
            <a:prstDash val="solid"/>
          </a:ln>
        </p:spPr>
      </p:sp>
      <p:sp>
        <p:nvSpPr>
          <p:cNvPr id="17" name="Text 15"/>
          <p:cNvSpPr txBox="1"/>
          <p:nvPr/>
        </p:nvSpPr>
        <p:spPr>
          <a:xfrm>
            <a:off x="6409944" y="384048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7</a:t>
            </a:r>
            <a:endParaRPr lang="en-US" sz="2800" dirty="0"/>
          </a:p>
          <a:p>
            <a:pPr indent="0" marL="0">
              <a:spcAft>
                <a:spcPts val="600"/>
              </a:spcAft>
              <a:buNone/>
            </a:pPr>
            <a:r>
              <a:rPr lang="en-US" sz="1600" b="1" dirty="0">
                <a:solidFill>
                  <a:schemeClr val="bg1"/>
                </a:solidFill>
              </a:rPr>
              <a:t>Deadlines timetable</a:t>
            </a:r>
            <a:endParaRPr lang="en-US" sz="2800" dirty="0"/>
          </a:p>
        </p:txBody>
      </p:sp>
      <p:sp>
        <p:nvSpPr>
          <p:cNvPr id="18" name="Stop 8"/>
          <p:cNvSpPr/>
          <p:nvPr/>
        </p:nvSpPr>
        <p:spPr>
          <a:xfrm>
            <a:off x="8997696" y="3657600"/>
            <a:ext cx="2615184" cy="1691640"/>
          </a:xfrm>
          <a:prstGeom prst="roundRect">
            <a:avLst>
              <a:gd name="adj" fmla="val 6486"/>
            </a:avLst>
          </a:prstGeom>
          <a:solidFill>
            <a:schemeClr val="accent3"/>
          </a:solidFill>
          <a:ln w="12700">
            <a:solidFill>
              <a:schemeClr val="accent3"/>
            </a:solidFill>
            <a:prstDash val="solid"/>
          </a:ln>
        </p:spPr>
      </p:sp>
      <p:sp>
        <p:nvSpPr>
          <p:cNvPr id="19" name="Text 17"/>
          <p:cNvSpPr txBox="1"/>
          <p:nvPr/>
        </p:nvSpPr>
        <p:spPr>
          <a:xfrm>
            <a:off x="9226296" y="3840480"/>
            <a:ext cx="2157984" cy="1325880"/>
          </a:xfrm>
          <a:prstGeom prst="rect">
            <a:avLst/>
          </a:prstGeom>
          <a:noFill/>
          <a:ln/>
        </p:spPr>
        <p:txBody>
          <a:bodyPr wrap="square" lIns="0" tIns="0" rIns="0" bIns="0" rtlCol="0" anchor="t"/>
          <a:lstStyle/>
          <a:p>
            <a:pPr indent="0" marL="0">
              <a:spcAft>
                <a:spcPts val="600"/>
              </a:spcAft>
              <a:buNone/>
            </a:pPr>
            <a:r>
              <a:rPr lang="en-US" sz="2800" b="1" dirty="0">
                <a:solidFill>
                  <a:schemeClr val="accent2"/>
                </a:solidFill>
                <a:latin typeface="Cambria" pitchFamily="34" charset="0"/>
                <a:ea typeface="Cambria" pitchFamily="34" charset="-122"/>
                <a:cs typeface="Cambria" pitchFamily="34" charset="-120"/>
              </a:rPr>
              <a:t>8</a:t>
            </a:r>
            <a:endParaRPr lang="en-US" sz="2800" dirty="0"/>
          </a:p>
          <a:p>
            <a:pPr indent="0" marL="0">
              <a:spcAft>
                <a:spcPts val="600"/>
              </a:spcAft>
              <a:buNone/>
            </a:pPr>
            <a:r>
              <a:rPr lang="en-US" sz="1600" b="1" dirty="0">
                <a:solidFill>
                  <a:schemeClr val="bg1"/>
                </a:solidFill>
              </a:rPr>
              <a:t>Notification centre</a:t>
            </a:r>
            <a:endParaRPr lang="en-US" sz="2800" dirty="0"/>
          </a:p>
        </p:txBody>
      </p:sp>
      <p:sp>
        <p:nvSpPr>
          <p:cNvPr id="20" name="Text 18"/>
          <p:cNvSpPr txBox="1"/>
          <p:nvPr/>
        </p:nvSpPr>
        <p:spPr>
          <a:xfrm>
            <a:off x="548640" y="5669280"/>
            <a:ext cx="10972800" cy="457200"/>
          </a:xfrm>
          <a:prstGeom prst="rect">
            <a:avLst/>
          </a:prstGeom>
          <a:noFill/>
          <a:ln/>
        </p:spPr>
        <p:txBody>
          <a:bodyPr wrap="square" lIns="0" tIns="0" rIns="0" bIns="0" rtlCol="0" anchor="ctr"/>
          <a:lstStyle/>
          <a:p>
            <a:pPr indent="0" marL="0">
              <a:buNone/>
            </a:pPr>
            <a:r>
              <a:rPr lang="en-US" sz="1600" dirty="0">
                <a:solidFill>
                  <a:schemeClr val="accent6"/>
                </a:solidFill>
              </a:rPr>
              <a:t>Then the people: a student’s journey from admission to pass-out, and faculty workload against AICTE norms.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1 · INSTITUTION AND PROGRAMMES</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Fr. CRCE, set up once</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Programmes and intake</a:t>
            </a:r>
            <a:endParaRPr lang="en-US" sz="1700" dirty="0"/>
          </a:p>
          <a:p>
            <a:pPr indent="0" marL="0">
              <a:spcAft>
                <a:spcPts val="400"/>
              </a:spcAft>
              <a:buNone/>
            </a:pPr>
            <a:r>
              <a:rPr lang="en-US" sz="1400" dirty="0">
                <a:solidFill>
                  <a:schemeClr val="tx2"/>
                </a:solidFill>
              </a:rPr>
              <a:t>B.Tech COMP, CSE, ECS and MECH and M.Tech Computer, each with intake and NBA status.</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Departments and HODs</a:t>
            </a:r>
            <a:endParaRPr lang="en-US" sz="1700" dirty="0"/>
          </a:p>
          <a:p>
            <a:pPr indent="0" marL="0">
              <a:spcAft>
                <a:spcPts val="400"/>
              </a:spcAft>
              <a:buNone/>
            </a:pPr>
            <a:r>
              <a:rPr lang="en-US" sz="1400" dirty="0">
                <a:solidFill>
                  <a:schemeClr val="tx2"/>
                </a:solidFill>
              </a:rPr>
              <a:t>Six departments with their heads, loaded from the college’s published pages.</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Everything hangs off it</a:t>
            </a:r>
            <a:endParaRPr lang="en-US" sz="1700" dirty="0"/>
          </a:p>
          <a:p>
            <a:pPr indent="0" marL="0">
              <a:spcAft>
                <a:spcPts val="400"/>
              </a:spcAft>
              <a:buNone/>
            </a:pPr>
            <a:r>
              <a:rPr lang="en-US" sz="1400" dirty="0">
                <a:solidFill>
                  <a:schemeClr val="tx2"/>
                </a:solidFill>
              </a:rPr>
              <a:t>Courses, rules, students, faculty and deadlines all point to a programme and department.</a:t>
            </a:r>
            <a:endParaRPr lang="en-US" sz="1700" dirty="0"/>
          </a:p>
        </p:txBody>
      </p:sp>
      <p:sp>
        <p:nvSpPr>
          <p:cNvPr id="7" name="Screenshot frame"/>
          <p:cNvSpPr/>
          <p:nvPr/>
        </p:nvSpPr>
        <p:spPr>
          <a:xfrm>
            <a:off x="4334256" y="2190156"/>
            <a:ext cx="7342632" cy="3547536"/>
          </a:xfrm>
          <a:prstGeom prst="roundRect">
            <a:avLst>
              <a:gd name="adj" fmla="val 2062"/>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Institution overview with Fr. CRCE’s programmes, intake and NBA status">    </p:cNvPr>
          <p:cNvPicPr>
            <a:picLocks noChangeAspect="1"/>
          </p:cNvPicPr>
          <p:nvPr/>
        </p:nvPicPr>
        <p:blipFill>
          <a:blip r:embed="rId1"/>
          <a:stretch>
            <a:fillRect/>
          </a:stretch>
        </p:blipFill>
        <p:spPr>
          <a:xfrm>
            <a:off x="4370832" y="2226732"/>
            <a:ext cx="7269480" cy="3474384"/>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2 · RULES FRAMEWORK</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AICTE sets the floor, R2024 decides</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Three layers</a:t>
            </a:r>
            <a:endParaRPr lang="en-US" sz="1700" dirty="0"/>
          </a:p>
          <a:p>
            <a:pPr indent="0" marL="0">
              <a:spcAft>
                <a:spcPts val="400"/>
              </a:spcAft>
              <a:buNone/>
            </a:pPr>
            <a:r>
              <a:rPr lang="en-US" sz="1400" dirty="0">
                <a:solidFill>
                  <a:schemeClr val="tx2"/>
                </a:solidFill>
              </a:rPr>
              <a:t>Each rule sits at AICTE, University of Mumbai or institute level; the most specific one applies.</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Per programme</a:t>
            </a:r>
            <a:endParaRPr lang="en-US" sz="1700" dirty="0"/>
          </a:p>
          <a:p>
            <a:pPr indent="0" marL="0">
              <a:spcAft>
                <a:spcPts val="400"/>
              </a:spcAft>
              <a:buNone/>
            </a:pPr>
            <a:r>
              <a:rPr lang="en-US" sz="1400" dirty="0">
                <a:solidFill>
                  <a:schemeClr val="tx2"/>
                </a:solidFill>
              </a:rPr>
              <a:t>Pass at 40% for B.Tech and 45% for M.Tech: one rule, set per programme.</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Used everywhere</a:t>
            </a:r>
            <a:endParaRPr lang="en-US" sz="1700" dirty="0"/>
          </a:p>
          <a:p>
            <a:pPr indent="0" marL="0">
              <a:spcAft>
                <a:spcPts val="400"/>
              </a:spcAft>
              <a:buNone/>
            </a:pPr>
            <a:r>
              <a:rPr lang="en-US" sz="1400" dirty="0">
                <a:solidFill>
                  <a:schemeClr val="tx2"/>
                </a:solidFill>
              </a:rPr>
              <a:t>Attendance eligibility, promotion and results read the same rules, so a change applies everywhere.</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Rules framework with AICTE, university and institute columns">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3 · TEACHING PLAN</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From syllabus to a dated lesson plan</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Upload the syllabus</a:t>
            </a:r>
            <a:endParaRPr lang="en-US" sz="1700" dirty="0"/>
          </a:p>
          <a:p>
            <a:pPr indent="0" marL="0">
              <a:spcAft>
                <a:spcPts val="400"/>
              </a:spcAft>
              <a:buNone/>
            </a:pPr>
            <a:r>
              <a:rPr lang="en-US" sz="1400" dirty="0">
                <a:solidFill>
                  <a:schemeClr val="tx2"/>
                </a:solidFill>
              </a:rPr>
              <a:t>A PDF, a Word file or the department’s existing lesson plan becomes COs, units and topics.</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Placed on the timetable</a:t>
            </a:r>
            <a:endParaRPr lang="en-US" sz="1700" dirty="0"/>
          </a:p>
          <a:p>
            <a:pPr indent="0" marL="0">
              <a:spcAft>
                <a:spcPts val="400"/>
              </a:spcAft>
              <a:buNone/>
            </a:pPr>
            <a:r>
              <a:rPr lang="en-US" sz="1400" dirty="0">
                <a:solidFill>
                  <a:schemeClr val="tx2"/>
                </a:solidFill>
              </a:rPr>
              <a:t>Every session gets a date, its CO mapping, a Bloom level and a teaching method.</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Department format out</a:t>
            </a:r>
            <a:endParaRPr lang="en-US" sz="1700" dirty="0"/>
          </a:p>
          <a:p>
            <a:pPr indent="0" marL="0">
              <a:spcAft>
                <a:spcPts val="400"/>
              </a:spcAft>
              <a:buNone/>
            </a:pPr>
            <a:r>
              <a:rPr lang="en-US" sz="1400" dirty="0">
                <a:solidFill>
                  <a:schemeClr val="tx2"/>
                </a:solidFill>
              </a:rPr>
              <a:t>The lesson plan prints in the department’s own format, with actual dates filled in.</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Learning plan with dated sessions mapped to COs and Bloom levels">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4 · ATTENDANCE AND SCHEDULE CHANGES</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 holiday no longer breaks the plan</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Sudden holidays</a:t>
            </a:r>
            <a:endParaRPr lang="en-US" sz="1700" dirty="0"/>
          </a:p>
          <a:p>
            <a:pPr indent="0" marL="0">
              <a:spcAft>
                <a:spcPts val="400"/>
              </a:spcAft>
              <a:buNone/>
            </a:pPr>
            <a:r>
              <a:rPr lang="en-US" sz="1400" dirty="0">
                <a:solidFill>
                  <a:schemeClr val="tx2"/>
                </a:solidFill>
              </a:rPr>
              <a:t>Declared once for a class or the whole term; every affected lesson plan shifts forward.</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Supplementary days</a:t>
            </a:r>
            <a:endParaRPr lang="en-US" sz="1700" dirty="0"/>
          </a:p>
          <a:p>
            <a:pPr indent="0" marL="0">
              <a:spcAft>
                <a:spcPts val="400"/>
              </a:spcAft>
              <a:buNone/>
            </a:pPr>
            <a:r>
              <a:rPr lang="en-US" sz="1400" dirty="0">
                <a:solidFill>
                  <a:schemeClr val="tx2"/>
                </a:solidFill>
              </a:rPr>
              <a:t>“Saturday follows Monday’s timetable” pulls the plan back; the fit check shows who is short.</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75% eligibility, live</a:t>
            </a:r>
            <a:endParaRPr lang="en-US" sz="1700" dirty="0"/>
          </a:p>
          <a:p>
            <a:pPr indent="0" marL="0">
              <a:spcAft>
                <a:spcPts val="400"/>
              </a:spcAft>
              <a:buNone/>
            </a:pPr>
            <a:r>
              <a:rPr lang="en-US" sz="1400" dirty="0">
                <a:solidFill>
                  <a:schemeClr val="tx2"/>
                </a:solidFill>
              </a:rPr>
              <a:t>Attendance is marked per class and checked against biometric punches; defaulters show before MSE.</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Schedule changes with holiday and supplementary day options">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5 · CONTINUOUS INTERNAL EVALUATION</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ISE, MSE and ESE on one sheet</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Scheme per course</a:t>
            </a:r>
            <a:endParaRPr lang="en-US" sz="1700" dirty="0"/>
          </a:p>
          <a:p>
            <a:pPr indent="0" marL="0">
              <a:spcAft>
                <a:spcPts val="400"/>
              </a:spcAft>
              <a:buNone/>
            </a:pPr>
            <a:r>
              <a:rPr lang="en-US" sz="1400" dirty="0">
                <a:solidFill>
                  <a:schemeClr val="tx2"/>
                </a:solidFill>
              </a:rPr>
              <a:t>ISE, MSE, term work and ESE heads with marks and weights, set to match R2024.</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Consolidated report</a:t>
            </a:r>
            <a:endParaRPr lang="en-US" sz="1700" dirty="0"/>
          </a:p>
          <a:p>
            <a:pPr indent="0" marL="0">
              <a:spcAft>
                <a:spcPts val="400"/>
              </a:spcAft>
              <a:buNone/>
            </a:pPr>
            <a:r>
              <a:rPr lang="en-US" sz="1400" dirty="0">
                <a:solidFill>
                  <a:schemeClr val="tx2"/>
                </a:solidFill>
              </a:rPr>
              <a:t>Every item, NE for not entered, AB for absent, total CIE and attendance; CSV for the exam cell.</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Re-exams built in</a:t>
            </a:r>
            <a:endParaRPr lang="en-US" sz="1700" dirty="0"/>
          </a:p>
          <a:p>
            <a:pPr indent="0" marL="0">
              <a:spcAft>
                <a:spcPts val="400"/>
              </a:spcAft>
              <a:buNone/>
            </a:pPr>
            <a:r>
              <a:rPr lang="en-US" sz="1400" dirty="0">
                <a:solidFill>
                  <a:schemeClr val="tx2"/>
                </a:solidFill>
              </a:rPr>
              <a:t>Failed and absent students are suggested; the new score replaces or keeps the better one.</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Consolidated CIE and attendance report">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6 · CO ATTAINMENT FOR NBA</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Attainment as a by-product of marking</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Tagged at the source</a:t>
            </a:r>
            <a:endParaRPr lang="en-US" sz="1700" dirty="0"/>
          </a:p>
          <a:p>
            <a:pPr indent="0" marL="0">
              <a:spcAft>
                <a:spcPts val="400"/>
              </a:spcAft>
              <a:buNone/>
            </a:pPr>
            <a:r>
              <a:rPr lang="en-US" sz="1400" dirty="0">
                <a:solidFill>
                  <a:schemeClr val="tx2"/>
                </a:solidFill>
              </a:rPr>
              <a:t>Every question and rubric criterion carries its CO, so marks entry is the evidence.</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Levels 1 to 3</a:t>
            </a:r>
            <a:endParaRPr lang="en-US" sz="1700" dirty="0"/>
          </a:p>
          <a:p>
            <a:pPr indent="0" marL="0">
              <a:spcAft>
                <a:spcPts val="400"/>
              </a:spcAft>
              <a:buNone/>
            </a:pPr>
            <a:r>
              <a:rPr lang="en-US" sz="1400" dirty="0">
                <a:solidFill>
                  <a:schemeClr val="tx2"/>
                </a:solidFill>
              </a:rPr>
              <a:t>Share of students reaching the target; internal and ESE combine into an overall level.</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Gaps show early</a:t>
            </a:r>
            <a:endParaRPr lang="en-US" sz="1700" dirty="0"/>
          </a:p>
          <a:p>
            <a:pPr indent="0" marL="0">
              <a:spcAft>
                <a:spcPts val="400"/>
              </a:spcAft>
              <a:buNone/>
            </a:pPr>
            <a:r>
              <a:rPr lang="en-US" sz="1400" dirty="0">
                <a:solidFill>
                  <a:schemeClr val="tx2"/>
                </a:solidFill>
              </a:rPr>
              <a:t>A CO with no assessment yet is visible mid-term, not at the NBA file stage.</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CO attainment table with levels per course outcome">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7 · DEADLINES TIMETABLE</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The Dean’s office sets the dates</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One academic timetable</a:t>
            </a:r>
            <a:endParaRPr lang="en-US" sz="1700" dirty="0"/>
          </a:p>
          <a:p>
            <a:pPr indent="0" marL="0">
              <a:spcAft>
                <a:spcPts val="400"/>
              </a:spcAft>
              <a:buNone/>
            </a:pPr>
            <a:r>
              <a:rPr lang="en-US" sz="1400" dirty="0">
                <a:solidFill>
                  <a:schemeClr val="tx2"/>
                </a:solidFill>
              </a:rPr>
              <a:t>MSE and ESE papers, marks release, attendance, course files: dated per department, year or term.</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Checked, not chased</a:t>
            </a:r>
            <a:endParaRPr lang="en-US" sz="1700" dirty="0"/>
          </a:p>
          <a:p>
            <a:pPr indent="0" marL="0">
              <a:spcAft>
                <a:spcPts val="400"/>
              </a:spcAft>
              <a:buNone/>
            </a:pPr>
            <a:r>
              <a:rPr lang="en-US" sz="1400" dirty="0">
                <a:solidFill>
                  <a:schemeClr val="tx2"/>
                </a:solidFill>
              </a:rPr>
              <a:t>Paper submitted, marks released, attendance up to date: the system checks each course itself.</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Who is pending</a:t>
            </a:r>
            <a:endParaRPr lang="en-US" sz="1700" dirty="0"/>
          </a:p>
          <a:p>
            <a:pPr indent="0" marL="0">
              <a:spcAft>
                <a:spcPts val="400"/>
              </a:spcAft>
              <a:buNone/>
            </a:pPr>
            <a:r>
              <a:rPr lang="en-US" sz="1400" dirty="0">
                <a:solidFill>
                  <a:schemeClr val="tx2"/>
                </a:solidFill>
              </a:rPr>
              <a:t>Each deadline shows done and pending courses or people, and turns red when it passes.</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Deadlines timetable with progress per deadline">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STOP 8 · NOTIFICATION CENTRE</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Everyone sees what is due, on any phone</a:t>
            </a:r>
            <a:endParaRPr lang="en-US" sz="3000" dirty="0"/>
          </a:p>
        </p:txBody>
      </p:sp>
      <p:sp>
        <p:nvSpPr>
          <p:cNvPr id="4" name="Point 1"/>
          <p:cNvSpPr txBox="1"/>
          <p:nvPr/>
        </p:nvSpPr>
        <p:spPr>
          <a:xfrm>
            <a:off x="548640" y="1783080"/>
            <a:ext cx="30175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Faculty</a:t>
            </a:r>
            <a:endParaRPr lang="en-US" sz="1700" dirty="0"/>
          </a:p>
          <a:p>
            <a:pPr indent="0" marL="0">
              <a:spcAft>
                <a:spcPts val="400"/>
              </a:spcAft>
              <a:buNone/>
            </a:pPr>
            <a:r>
              <a:rPr lang="en-US" sz="1400" dirty="0">
                <a:solidFill>
                  <a:schemeClr val="tx2"/>
                </a:solidFill>
              </a:rPr>
              <a:t>Attendance not marked, submissions to grade, marks to release, papers due.</a:t>
            </a:r>
            <a:endParaRPr lang="en-US" sz="1700" dirty="0"/>
          </a:p>
        </p:txBody>
      </p:sp>
      <p:sp>
        <p:nvSpPr>
          <p:cNvPr id="5" name="Point 2"/>
          <p:cNvSpPr txBox="1"/>
          <p:nvPr/>
        </p:nvSpPr>
        <p:spPr>
          <a:xfrm>
            <a:off x="548640" y="3246120"/>
            <a:ext cx="30175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Students</a:t>
            </a:r>
            <a:endParaRPr lang="en-US" sz="1700" dirty="0"/>
          </a:p>
          <a:p>
            <a:pPr indent="0" marL="0">
              <a:spcAft>
                <a:spcPts val="400"/>
              </a:spcAft>
              <a:buNone/>
            </a:pPr>
            <a:r>
              <a:rPr lang="en-US" sz="1400" dirty="0">
                <a:solidFill>
                  <a:schemeClr val="tx2"/>
                </a:solidFill>
              </a:rPr>
              <a:t>Assignments due, attendance below 75%, upcoming exams, exam forms.</a:t>
            </a:r>
            <a:endParaRPr lang="en-US" sz="1700" dirty="0"/>
          </a:p>
        </p:txBody>
      </p:sp>
      <p:sp>
        <p:nvSpPr>
          <p:cNvPr id="6" name="Point 3"/>
          <p:cNvSpPr txBox="1"/>
          <p:nvPr/>
        </p:nvSpPr>
        <p:spPr>
          <a:xfrm>
            <a:off x="548640" y="4709160"/>
            <a:ext cx="30175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Clears itself</a:t>
            </a:r>
            <a:endParaRPr lang="en-US" sz="1700" dirty="0"/>
          </a:p>
          <a:p>
            <a:pPr indent="0" marL="0">
              <a:spcAft>
                <a:spcPts val="400"/>
              </a:spcAft>
              <a:buNone/>
            </a:pPr>
            <a:r>
              <a:rPr lang="en-US" sz="1400" dirty="0">
                <a:solidFill>
                  <a:schemeClr val="tx2"/>
                </a:solidFill>
              </a:rPr>
              <a:t>An item disappears when the work is done; optional email digests.</a:t>
            </a:r>
            <a:endParaRPr lang="en-US" sz="1700" dirty="0"/>
          </a:p>
        </p:txBody>
      </p:sp>
      <p:sp>
        <p:nvSpPr>
          <p:cNvPr id="7" name="Desktop screenshot frame"/>
          <p:cNvSpPr/>
          <p:nvPr/>
        </p:nvSpPr>
        <p:spPr>
          <a:xfrm>
            <a:off x="3758184" y="1746504"/>
            <a:ext cx="5925312" cy="3730752"/>
          </a:xfrm>
          <a:prstGeom prst="roundRect">
            <a:avLst>
              <a:gd name="adj" fmla="val 1961"/>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Desktop screenshot" descr="Teacher notification centre">    </p:cNvPr>
          <p:cNvPicPr>
            <a:picLocks noChangeAspect="1"/>
          </p:cNvPicPr>
          <p:nvPr/>
        </p:nvPicPr>
        <p:blipFill>
          <a:blip r:embed="rId1"/>
          <a:stretch>
            <a:fillRect/>
          </a:stretch>
        </p:blipFill>
        <p:spPr>
          <a:xfrm>
            <a:off x="3794760" y="1783080"/>
            <a:ext cx="5852160" cy="3657600"/>
          </a:xfrm>
          <a:prstGeom prst="rect">
            <a:avLst/>
          </a:prstGeom>
        </p:spPr>
      </p:pic>
      <p:sp>
        <p:nvSpPr>
          <p:cNvPr id="9" name="Phone screenshot frame"/>
          <p:cNvSpPr/>
          <p:nvPr/>
        </p:nvSpPr>
        <p:spPr>
          <a:xfrm>
            <a:off x="9884664" y="1655064"/>
            <a:ext cx="1773936" cy="3758184"/>
          </a:xfrm>
          <a:prstGeom prst="roundRect">
            <a:avLst>
              <a:gd name="adj" fmla="val 4124"/>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10" name="Phone screenshot" descr="Notification centre on a phone">    </p:cNvPr>
          <p:cNvPicPr>
            <a:picLocks noChangeAspect="1"/>
          </p:cNvPicPr>
          <p:nvPr/>
        </p:nvPicPr>
        <p:blipFill>
          <a:blip r:embed="rId2"/>
          <a:stretch>
            <a:fillRect/>
          </a:stretch>
        </p:blipFill>
        <p:spPr>
          <a:xfrm>
            <a:off x="9921240" y="1691640"/>
            <a:ext cx="1700784" cy="3685032"/>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STUDENTS · ADMISSION TO PASS-OUT</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Every semester of every student</a:t>
            </a:r>
            <a:endParaRPr lang="en-US" sz="3000" dirty="0"/>
          </a:p>
        </p:txBody>
      </p:sp>
      <p:sp>
        <p:nvSpPr>
          <p:cNvPr id="4" name="Point 1"/>
          <p:cNvSpPr txBox="1"/>
          <p:nvPr/>
        </p:nvSpPr>
        <p:spPr>
          <a:xfrm>
            <a:off x="548640" y="178308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From admission</a:t>
            </a:r>
            <a:endParaRPr lang="en-US" sz="1700" dirty="0"/>
          </a:p>
          <a:p>
            <a:pPr indent="0" marL="0">
              <a:spcAft>
                <a:spcPts val="400"/>
              </a:spcAft>
              <a:buNone/>
            </a:pPr>
            <a:r>
              <a:rPr lang="en-US" sz="1400" dirty="0">
                <a:solidFill>
                  <a:schemeClr val="tx2"/>
                </a:solidFill>
              </a:rPr>
              <a:t>CAP, institute, minority, TFWS or direct second year, with programme and category.</a:t>
            </a:r>
            <a:endParaRPr lang="en-US" sz="1700" dirty="0"/>
          </a:p>
        </p:txBody>
      </p:sp>
      <p:sp>
        <p:nvSpPr>
          <p:cNvPr id="5" name="Point 2"/>
          <p:cNvSpPr txBox="1"/>
          <p:nvPr/>
        </p:nvSpPr>
        <p:spPr>
          <a:xfrm>
            <a:off x="548640" y="324612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Semester by semester</a:t>
            </a:r>
            <a:endParaRPr lang="en-US" sz="1700" dirty="0"/>
          </a:p>
          <a:p>
            <a:pPr indent="0" marL="0">
              <a:spcAft>
                <a:spcPts val="400"/>
              </a:spcAft>
              <a:buNone/>
            </a:pPr>
            <a:r>
              <a:rPr lang="en-US" sz="1400" dirty="0">
                <a:solidFill>
                  <a:schemeClr val="tx2"/>
                </a:solidFill>
              </a:rPr>
              <a:t>SGPA, credits, attendance and backlogs, from LMS grades or entered from results.</a:t>
            </a:r>
            <a:endParaRPr lang="en-US" sz="1700" dirty="0"/>
          </a:p>
        </p:txBody>
      </p:sp>
      <p:sp>
        <p:nvSpPr>
          <p:cNvPr id="6" name="Point 3"/>
          <p:cNvSpPr txBox="1"/>
          <p:nvPr/>
        </p:nvSpPr>
        <p:spPr>
          <a:xfrm>
            <a:off x="548640" y="4709160"/>
            <a:ext cx="342900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Promotion by the rules</a:t>
            </a:r>
            <a:endParaRPr lang="en-US" sz="1700" dirty="0"/>
          </a:p>
          <a:p>
            <a:pPr indent="0" marL="0">
              <a:spcAft>
                <a:spcPts val="400"/>
              </a:spcAft>
              <a:buNone/>
            </a:pPr>
            <a:r>
              <a:rPr lang="en-US" sz="1400" dirty="0">
                <a:solidFill>
                  <a:schemeClr val="tx2"/>
                </a:solidFill>
              </a:rPr>
              <a:t>Detained, ATKT or promoted per the rules; CGPA shown with the R2024 percentage.</a:t>
            </a:r>
            <a:endParaRPr lang="en-US" sz="1700" dirty="0"/>
          </a:p>
        </p:txBody>
      </p:sp>
      <p:sp>
        <p:nvSpPr>
          <p:cNvPr id="7" name="Screenshot frame"/>
          <p:cNvSpPr/>
          <p:nvPr/>
        </p:nvSpPr>
        <p:spPr>
          <a:xfrm>
            <a:off x="4334256" y="1655636"/>
            <a:ext cx="7342632" cy="4616577"/>
          </a:xfrm>
          <a:prstGeom prst="roundRect">
            <a:avLst>
              <a:gd name="adj" fmla="val 1585"/>
            </a:avLst>
          </a:prstGeom>
          <a:solidFill>
            <a:srgbClr val="FFFFFF"/>
          </a:solidFill>
          <a:ln w="9525">
            <a:solidFill>
              <a:schemeClr val="accent5"/>
            </a:solidFill>
            <a:prstDash val="solid"/>
          </a:ln>
          <a:effectLst>
            <a:outerShdw sx="100000" sy="100000" kx="0" ky="0" algn="bl" rotWithShape="0" blurRad="127000" dist="38100" dir="5400000">
              <a:srgbClr val="15223B">
                <a:alpha val="14000"/>
              </a:srgbClr>
            </a:outerShdw>
          </a:effectLst>
        </p:spPr>
      </p:sp>
      <p:pic>
        <p:nvPicPr>
          <p:cNvPr id="8" name="Screenshot" descr="A demo student’s journey across eight semesters">    </p:cNvPr>
          <p:cNvPicPr>
            <a:picLocks noChangeAspect="1"/>
          </p:cNvPicPr>
          <p:nvPr/>
        </p:nvPicPr>
        <p:blipFill>
          <a:blip r:embed="rId1"/>
          <a:stretch>
            <a:fillRect/>
          </a:stretch>
        </p:blipFill>
        <p:spPr>
          <a:xfrm>
            <a:off x="4370832" y="1692212"/>
            <a:ext cx="7269480" cy="4543425"/>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FACULTY · TEACHING AND LAB STAFF</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Load, skills and feedback in one record</a:t>
            </a:r>
            <a:endParaRPr lang="en-US" sz="3000" dirty="0"/>
          </a:p>
        </p:txBody>
      </p:sp>
      <p:sp>
        <p:nvSpPr>
          <p:cNvPr id="4" name="Faculty card 1"/>
          <p:cNvSpPr/>
          <p:nvPr/>
        </p:nvSpPr>
        <p:spPr>
          <a:xfrm>
            <a:off x="548640" y="1737360"/>
            <a:ext cx="3547872" cy="3154680"/>
          </a:xfrm>
          <a:prstGeom prst="roundRect">
            <a:avLst>
              <a:gd name="adj" fmla="val 3478"/>
            </a:avLst>
          </a:prstGeom>
          <a:solidFill>
            <a:schemeClr val="bg1"/>
          </a:solidFill>
          <a:ln w="9525">
            <a:solidFill>
              <a:schemeClr val="accent5"/>
            </a:solidFill>
            <a:prstDash val="solid"/>
          </a:ln>
        </p:spPr>
      </p:sp>
      <p:sp>
        <p:nvSpPr>
          <p:cNvPr id="5" name="Marker 1"/>
          <p:cNvSpPr/>
          <p:nvPr/>
        </p:nvSpPr>
        <p:spPr>
          <a:xfrm>
            <a:off x="868680" y="196596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868680"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868680" y="2651760"/>
            <a:ext cx="2907792"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Workload against AICTE norms</a:t>
            </a:r>
            <a:endParaRPr lang="en-US" sz="1800" dirty="0"/>
          </a:p>
          <a:p>
            <a:pPr indent="0" marL="0">
              <a:spcAft>
                <a:spcPts val="600"/>
              </a:spcAft>
              <a:buNone/>
            </a:pPr>
            <a:r>
              <a:rPr lang="en-US" sz="1400" dirty="0">
                <a:solidFill>
                  <a:schemeClr val="tx2"/>
                </a:solidFill>
              </a:rPr>
              <a:t>Theory, lab, projects and admin duties add up per week and are compared with the norm for each designation; over and under load are flagged.</a:t>
            </a:r>
            <a:endParaRPr lang="en-US" sz="1800" dirty="0"/>
          </a:p>
        </p:txBody>
      </p:sp>
      <p:sp>
        <p:nvSpPr>
          <p:cNvPr id="8" name="Faculty card 2"/>
          <p:cNvSpPr/>
          <p:nvPr/>
        </p:nvSpPr>
        <p:spPr>
          <a:xfrm>
            <a:off x="4306824" y="1737360"/>
            <a:ext cx="3547872" cy="3154680"/>
          </a:xfrm>
          <a:prstGeom prst="roundRect">
            <a:avLst>
              <a:gd name="adj" fmla="val 3478"/>
            </a:avLst>
          </a:prstGeom>
          <a:solidFill>
            <a:schemeClr val="bg1"/>
          </a:solidFill>
          <a:ln w="9525">
            <a:solidFill>
              <a:schemeClr val="accent5"/>
            </a:solidFill>
            <a:prstDash val="solid"/>
          </a:ln>
        </p:spPr>
      </p:sp>
      <p:sp>
        <p:nvSpPr>
          <p:cNvPr id="9" name="Marker 2"/>
          <p:cNvSpPr/>
          <p:nvPr/>
        </p:nvSpPr>
        <p:spPr>
          <a:xfrm>
            <a:off x="4626864" y="196596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4626864"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4626864" y="2651760"/>
            <a:ext cx="2907792"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Competencies to subjects</a:t>
            </a:r>
            <a:endParaRPr lang="en-US" sz="1800" dirty="0"/>
          </a:p>
          <a:p>
            <a:pPr indent="0" marL="0">
              <a:spcAft>
                <a:spcPts val="600"/>
              </a:spcAft>
              <a:buNone/>
            </a:pPr>
            <a:r>
              <a:rPr lang="en-US" sz="1400" dirty="0">
                <a:solidFill>
                  <a:schemeClr val="tx2"/>
                </a:solidFill>
              </a:rPr>
              <a:t>Core skills rated 1 to 5. The allocation board suggests the best-matched faculty with spare hours for each course, and lab staff for practicals.</a:t>
            </a:r>
            <a:endParaRPr lang="en-US" sz="1800" dirty="0"/>
          </a:p>
        </p:txBody>
      </p:sp>
      <p:sp>
        <p:nvSpPr>
          <p:cNvPr id="12" name="Faculty card 3"/>
          <p:cNvSpPr/>
          <p:nvPr/>
        </p:nvSpPr>
        <p:spPr>
          <a:xfrm>
            <a:off x="8065008" y="1737360"/>
            <a:ext cx="3547872" cy="3154680"/>
          </a:xfrm>
          <a:prstGeom prst="roundRect">
            <a:avLst>
              <a:gd name="adj" fmla="val 3478"/>
            </a:avLst>
          </a:prstGeom>
          <a:solidFill>
            <a:schemeClr val="bg1"/>
          </a:solidFill>
          <a:ln w="9525">
            <a:solidFill>
              <a:schemeClr val="accent5"/>
            </a:solidFill>
            <a:prstDash val="solid"/>
          </a:ln>
        </p:spPr>
      </p:sp>
      <p:sp>
        <p:nvSpPr>
          <p:cNvPr id="13" name="Marker 3"/>
          <p:cNvSpPr/>
          <p:nvPr/>
        </p:nvSpPr>
        <p:spPr>
          <a:xfrm>
            <a:off x="8385048" y="1965960"/>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8385048" y="19659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8385048" y="2651760"/>
            <a:ext cx="2907792" cy="2103120"/>
          </a:xfrm>
          <a:prstGeom prst="rect">
            <a:avLst/>
          </a:prstGeom>
          <a:noFill/>
          <a:ln/>
        </p:spPr>
        <p:txBody>
          <a:bodyPr wrap="square" lIns="0" tIns="0" rIns="0" bIns="0" rtlCol="0" anchor="t"/>
          <a:lstStyle/>
          <a:p>
            <a:pPr indent="0" marL="0">
              <a:spcAft>
                <a:spcPts val="600"/>
              </a:spcAft>
              <a:buNone/>
            </a:pPr>
            <a:r>
              <a:rPr lang="en-US" sz="1800" b="1" dirty="0">
                <a:solidFill>
                  <a:schemeClr val="tx1"/>
                </a:solidFill>
              </a:rPr>
              <a:t>Feedback and presence</a:t>
            </a:r>
            <a:endParaRPr lang="en-US" sz="1800" dirty="0"/>
          </a:p>
          <a:p>
            <a:pPr indent="0" marL="0">
              <a:spcAft>
                <a:spcPts val="600"/>
              </a:spcAft>
              <a:buNone/>
            </a:pPr>
            <a:r>
              <a:rPr lang="en-US" sz="1400" dirty="0">
                <a:solidFill>
                  <a:schemeClr val="tx2"/>
                </a:solidFill>
              </a:rPr>
              <a:t>Student, HOD and peer ratings over time, with biometric days on campus and any classes taught without a punch.</a:t>
            </a:r>
            <a:endParaRPr lang="en-US" sz="1800" dirty="0"/>
          </a:p>
        </p:txBody>
      </p:sp>
      <p:sp>
        <p:nvSpPr>
          <p:cNvPr id="16" name="Text 14"/>
          <p:cNvSpPr txBox="1"/>
          <p:nvPr/>
        </p:nvSpPr>
        <p:spPr>
          <a:xfrm>
            <a:off x="548640" y="5166360"/>
            <a:ext cx="10972800" cy="731520"/>
          </a:xfrm>
          <a:prstGeom prst="rect">
            <a:avLst/>
          </a:prstGeom>
          <a:noFill/>
          <a:ln/>
        </p:spPr>
        <p:txBody>
          <a:bodyPr wrap="square" lIns="0" tIns="0" rIns="0" bIns="0" rtlCol="0" anchor="t"/>
          <a:lstStyle/>
          <a:p>
            <a:pPr indent="0" marL="0">
              <a:buNone/>
            </a:pPr>
            <a:r>
              <a:rPr lang="en-US" sz="1600" dirty="0">
                <a:solidFill>
                  <a:schemeClr val="tx1"/>
                </a:solidFill>
              </a:rPr>
              <a:t>The college’s published faculty list (66 staff, with designations and HODs) is already loaded; workloads and ratings are added during the pilot.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WHAT THE DEAN’S OFFICE GETS</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Questions answered without a circular</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6492240"/>
                <a:gridCol w="4572000"/>
              </a:tblGrid>
              <a:tr h="548640">
                <a:tc>
                  <a:txBody>
                    <a:bodyPr/>
                    <a:lstStyle/>
                    <a:p>
                      <a:pPr indent="0" marL="0">
                        <a:buNone/>
                      </a:pPr>
                      <a:r>
                        <a:rPr lang="en-US" sz="1600" b="1" dirty="0">
                          <a:solidFill>
                            <a:schemeClr val="bg1"/>
                          </a:solidFill>
                        </a:rPr>
                        <a:t>Question</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Where it is answered</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chemeClr val="tx1"/>
                    </a:solidFill>
                  </a:tcPr>
                </a:tc>
              </a:tr>
              <a:tr h="548640">
                <a:tc>
                  <a:txBody>
                    <a:bodyPr/>
                    <a:lstStyle/>
                    <a:p>
                      <a:pPr indent="0" marL="0">
                        <a:buNone/>
                      </a:pPr>
                      <a:r>
                        <a:rPr lang="en-US" sz="1600" dirty="0">
                          <a:solidFill>
                            <a:schemeClr val="tx1"/>
                          </a:solidFill>
                        </a:rPr>
                        <a:t>Which MSE papers are still not submitted?</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Deadlines timetable</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r h="548640">
                <a:tc>
                  <a:txBody>
                    <a:bodyPr/>
                    <a:lstStyle/>
                    <a:p>
                      <a:pPr indent="0" marL="0">
                        <a:buNone/>
                      </a:pPr>
                      <a:r>
                        <a:rPr lang="en-US" sz="1600" dirty="0">
                          <a:solidFill>
                            <a:schemeClr val="tx1"/>
                          </a:solidFill>
                        </a:rPr>
                        <a:t>Who is below 75% before the MSE?</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600" dirty="0">
                          <a:solidFill>
                            <a:schemeClr val="tx1"/>
                          </a:solidFill>
                        </a:rPr>
                        <a:t>Attendance report, per course</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r>
              <a:tr h="548640">
                <a:tc>
                  <a:txBody>
                    <a:bodyPr/>
                    <a:lstStyle/>
                    <a:p>
                      <a:pPr indent="0" marL="0">
                        <a:buNone/>
                      </a:pPr>
                      <a:r>
                        <a:rPr lang="en-US" sz="1600" dirty="0">
                          <a:solidFill>
                            <a:schemeClr val="tx1"/>
                          </a:solidFill>
                        </a:rPr>
                        <a:t>Which courses are behind their lesson plan?</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Syllabus-fit check</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r h="548640">
                <a:tc>
                  <a:txBody>
                    <a:bodyPr/>
                    <a:lstStyle/>
                    <a:p>
                      <a:pPr indent="0" marL="0">
                        <a:buNone/>
                      </a:pPr>
                      <a:r>
                        <a:rPr lang="en-US" sz="1600" dirty="0">
                          <a:solidFill>
                            <a:schemeClr val="tx1"/>
                          </a:solidFill>
                        </a:rPr>
                        <a:t>Has every CO been assessed this term?</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600" dirty="0">
                          <a:solidFill>
                            <a:schemeClr val="tx1"/>
                          </a:solidFill>
                        </a:rPr>
                        <a:t>CO attainment, per course</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r>
              <a:tr h="548640">
                <a:tc>
                  <a:txBody>
                    <a:bodyPr/>
                    <a:lstStyle/>
                    <a:p>
                      <a:pPr indent="0" marL="0">
                        <a:buNone/>
                      </a:pPr>
                      <a:r>
                        <a:rPr lang="en-US" sz="1600" dirty="0">
                          <a:solidFill>
                            <a:schemeClr val="tx1"/>
                          </a:solidFill>
                        </a:rPr>
                        <a:t>Who is over or under the workload norm?</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Faculty and staff list</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FFFFFF"/>
                    </a:solidFill>
                  </a:tcPr>
                </a:tc>
              </a:tr>
              <a:tr h="548640">
                <a:tc>
                  <a:txBody>
                    <a:bodyPr/>
                    <a:lstStyle/>
                    <a:p>
                      <a:pPr indent="0" marL="0">
                        <a:buNone/>
                      </a:pPr>
                      <a:r>
                        <a:rPr lang="en-US" sz="1600" dirty="0">
                          <a:solidFill>
                            <a:schemeClr val="tx1"/>
                          </a:solidFill>
                        </a:rPr>
                        <a:t>How has this student done since admission?</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c>
                  <a:txBody>
                    <a:bodyPr/>
                    <a:lstStyle/>
                    <a:p>
                      <a:pPr indent="0" marL="0">
                        <a:buNone/>
                      </a:pPr>
                      <a:r>
                        <a:rPr lang="en-US" sz="1600" dirty="0">
                          <a:solidFill>
                            <a:schemeClr val="tx1"/>
                          </a:solidFill>
                        </a:rPr>
                        <a:t>Student journey</a:t>
                      </a:r>
                      <a:endParaRPr lang="en-US" sz="1600" dirty="0"/>
                    </a:p>
                  </a:txBody>
                  <a:tcPr marL="128016" marR="128016" marT="73152" marB="73152" anchor="ctr">
                    <a:lnL w="6350" cap="flat" cmpd="sng" algn="ctr">
                      <a:solidFill>
                        <a:srgbClr val="D8D2C4"/>
                      </a:solidFill>
                      <a:prstDash val="solid"/>
                      <a:round/>
                      <a:headEnd type="none" w="med" len="med"/>
                      <a:tailEnd type="none" w="med" len="med"/>
                    </a:lnL>
                    <a:lnR w="6350" cap="flat" cmpd="sng" algn="ctr">
                      <a:solidFill>
                        <a:srgbClr val="D8D2C4"/>
                      </a:solidFill>
                      <a:prstDash val="solid"/>
                      <a:round/>
                      <a:headEnd type="none" w="med" len="med"/>
                      <a:tailEnd type="none" w="med" len="med"/>
                    </a:lnR>
                    <a:lnT w="6350" cap="flat" cmpd="sng" algn="ctr">
                      <a:solidFill>
                        <a:srgbClr val="D8D2C4"/>
                      </a:solidFill>
                      <a:prstDash val="solid"/>
                      <a:round/>
                      <a:headEnd type="none" w="med" len="med"/>
                      <a:tailEnd type="none" w="med" len="med"/>
                    </a:lnT>
                    <a:lnB w="6350" cap="flat" cmpd="sng" algn="ctr">
                      <a:solidFill>
                        <a:srgbClr val="D8D2C4"/>
                      </a:solidFill>
                      <a:prstDash val="solid"/>
                      <a:round/>
                      <a:headEnd type="none" w="med" len="med"/>
                      <a:tailEnd type="none" w="med" len="med"/>
                    </a:lnB>
                    <a:solidFill>
                      <a:srgbClr val="ECE8DE"/>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6424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PROPOSAL</a:t>
            </a:r>
            <a:endParaRPr lang="en-US" sz="1300" dirty="0"/>
          </a:p>
        </p:txBody>
      </p:sp>
      <p:sp>
        <p:nvSpPr>
          <p:cNvPr id="3" name="Text 0"/>
          <p:cNvSpPr/>
          <p:nvPr>
            <p:ph idx="101" type="title" hasCustomPrompt="1"/>
          </p:nvPr>
        </p:nvSpPr>
        <p:spPr>
          <a:xfrm>
            <a:off x="548640" y="749808"/>
            <a:ext cx="1106424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A one-term pilot in [Computer Engineering]</a:t>
            </a:r>
            <a:endParaRPr lang="en-US" sz="3000" dirty="0"/>
          </a:p>
        </p:txBody>
      </p:sp>
      <p:sp>
        <p:nvSpPr>
          <p:cNvPr id="4" name="Phase 1"/>
          <p:cNvSpPr/>
          <p:nvPr/>
        </p:nvSpPr>
        <p:spPr>
          <a:xfrm>
            <a:off x="548640" y="1737360"/>
            <a:ext cx="3547872" cy="3017520"/>
          </a:xfrm>
          <a:prstGeom prst="roundRect">
            <a:avLst>
              <a:gd name="adj" fmla="val 3636"/>
            </a:avLst>
          </a:prstGeom>
          <a:solidFill>
            <a:srgbClr val="FFFFFF"/>
          </a:solidFill>
          <a:ln w="9525">
            <a:solidFill>
              <a:schemeClr val="accent5"/>
            </a:solidFill>
            <a:prstDash val="solid"/>
          </a:ln>
        </p:spPr>
      </p:sp>
      <p:sp>
        <p:nvSpPr>
          <p:cNvPr id="5" name="Text 3"/>
          <p:cNvSpPr txBox="1"/>
          <p:nvPr/>
        </p:nvSpPr>
        <p:spPr>
          <a:xfrm>
            <a:off x="868680" y="1965960"/>
            <a:ext cx="2907792" cy="26060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1"/>
                </a:solidFill>
              </a:rPr>
              <a:t>BEFORE TERM · [DATES]</a:t>
            </a:r>
            <a:endParaRPr lang="en-US" sz="1200" dirty="0"/>
          </a:p>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Set up</a:t>
            </a:r>
            <a:endParaRPr lang="en-US" sz="1200" dirty="0"/>
          </a:p>
          <a:p>
            <a:pPr indent="0" marL="0">
              <a:spcAft>
                <a:spcPts val="800"/>
              </a:spcAft>
              <a:buNone/>
            </a:pPr>
            <a:r>
              <a:rPr lang="en-US" sz="1400" dirty="0">
                <a:solidFill>
                  <a:schemeClr val="tx2"/>
                </a:solidFill>
              </a:rPr>
              <a:t>Enter R2024 rules with the exam cell, the academic calendar, timetables and the full staff list.</a:t>
            </a:r>
            <a:endParaRPr lang="en-US" sz="1200" dirty="0"/>
          </a:p>
        </p:txBody>
      </p:sp>
      <p:sp>
        <p:nvSpPr>
          <p:cNvPr id="6" name="Arrow 1"/>
          <p:cNvSpPr/>
          <p:nvPr/>
        </p:nvSpPr>
        <p:spPr>
          <a:xfrm>
            <a:off x="4050792" y="3108960"/>
            <a:ext cx="301752" cy="274320"/>
          </a:xfrm>
          <a:prstGeom prst="rightArrow">
            <a:avLst/>
          </a:prstGeom>
          <a:solidFill>
            <a:schemeClr val="accent1"/>
          </a:solidFill>
          <a:ln w="12700">
            <a:solidFill>
              <a:schemeClr val="accent1"/>
            </a:solidFill>
            <a:prstDash val="solid"/>
          </a:ln>
        </p:spPr>
      </p:sp>
      <p:sp>
        <p:nvSpPr>
          <p:cNvPr id="7" name="Phase 2"/>
          <p:cNvSpPr/>
          <p:nvPr/>
        </p:nvSpPr>
        <p:spPr>
          <a:xfrm>
            <a:off x="4306824" y="1737360"/>
            <a:ext cx="3547872" cy="3017520"/>
          </a:xfrm>
          <a:prstGeom prst="roundRect">
            <a:avLst>
              <a:gd name="adj" fmla="val 3636"/>
            </a:avLst>
          </a:prstGeom>
          <a:solidFill>
            <a:srgbClr val="FFFFFF"/>
          </a:solidFill>
          <a:ln w="9525">
            <a:solidFill>
              <a:schemeClr val="accent5"/>
            </a:solidFill>
            <a:prstDash val="solid"/>
          </a:ln>
        </p:spPr>
      </p:sp>
      <p:sp>
        <p:nvSpPr>
          <p:cNvPr id="8" name="Text 6"/>
          <p:cNvSpPr txBox="1"/>
          <p:nvPr/>
        </p:nvSpPr>
        <p:spPr>
          <a:xfrm>
            <a:off x="4626864" y="1965960"/>
            <a:ext cx="2907792" cy="26060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1"/>
                </a:solidFill>
              </a:rPr>
              <a:t>DURING TERM</a:t>
            </a:r>
            <a:endParaRPr lang="en-US" sz="1200" dirty="0"/>
          </a:p>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Run</a:t>
            </a:r>
            <a:endParaRPr lang="en-US" sz="1200" dirty="0"/>
          </a:p>
          <a:p>
            <a:pPr indent="0" marL="0">
              <a:spcAft>
                <a:spcPts val="800"/>
              </a:spcAft>
              <a:buNone/>
            </a:pPr>
            <a:r>
              <a:rPr lang="en-US" sz="1400" dirty="0">
                <a:solidFill>
                  <a:schemeClr val="tx2"/>
                </a:solidFill>
              </a:rPr>
              <a:t>[__] faculty run lesson plans, attendance and CIE in [SE / TE] divisions; MSE and ESE paper deadlines set by the office.</a:t>
            </a:r>
            <a:endParaRPr lang="en-US" sz="1200" dirty="0"/>
          </a:p>
        </p:txBody>
      </p:sp>
      <p:sp>
        <p:nvSpPr>
          <p:cNvPr id="9" name="Arrow 2"/>
          <p:cNvSpPr/>
          <p:nvPr/>
        </p:nvSpPr>
        <p:spPr>
          <a:xfrm>
            <a:off x="7808976" y="3108960"/>
            <a:ext cx="301752" cy="274320"/>
          </a:xfrm>
          <a:prstGeom prst="rightArrow">
            <a:avLst/>
          </a:prstGeom>
          <a:solidFill>
            <a:schemeClr val="accent1"/>
          </a:solidFill>
          <a:ln w="12700">
            <a:solidFill>
              <a:schemeClr val="accent1"/>
            </a:solidFill>
            <a:prstDash val="solid"/>
          </a:ln>
        </p:spPr>
      </p:sp>
      <p:sp>
        <p:nvSpPr>
          <p:cNvPr id="10" name="Phase 3"/>
          <p:cNvSpPr/>
          <p:nvPr/>
        </p:nvSpPr>
        <p:spPr>
          <a:xfrm>
            <a:off x="8065008" y="1737360"/>
            <a:ext cx="3547872" cy="3017520"/>
          </a:xfrm>
          <a:prstGeom prst="roundRect">
            <a:avLst>
              <a:gd name="adj" fmla="val 3636"/>
            </a:avLst>
          </a:prstGeom>
          <a:solidFill>
            <a:srgbClr val="FFFFFF"/>
          </a:solidFill>
          <a:ln w="9525">
            <a:solidFill>
              <a:schemeClr val="accent5"/>
            </a:solidFill>
            <a:prstDash val="solid"/>
          </a:ln>
        </p:spPr>
      </p:sp>
      <p:sp>
        <p:nvSpPr>
          <p:cNvPr id="11" name="Text 9"/>
          <p:cNvSpPr txBox="1"/>
          <p:nvPr/>
        </p:nvSpPr>
        <p:spPr>
          <a:xfrm>
            <a:off x="8385048" y="1965960"/>
            <a:ext cx="2907792" cy="2606040"/>
          </a:xfrm>
          <a:prstGeom prst="rect">
            <a:avLst/>
          </a:prstGeom>
          <a:noFill/>
          <a:ln/>
        </p:spPr>
        <p:txBody>
          <a:bodyPr wrap="square" lIns="0" tIns="0" rIns="0" bIns="0" rtlCol="0" anchor="t"/>
          <a:lstStyle/>
          <a:p>
            <a:pPr indent="0" marL="0">
              <a:spcAft>
                <a:spcPts val="800"/>
              </a:spcAft>
              <a:buNone/>
            </a:pPr>
            <a:r>
              <a:rPr lang="en-US" sz="1200" b="1" spc="200" kern="0" dirty="0">
                <a:solidFill>
                  <a:schemeClr val="accent1"/>
                </a:solidFill>
              </a:rPr>
              <a:t>END OF TERM</a:t>
            </a:r>
            <a:endParaRPr lang="en-US" sz="1200" dirty="0"/>
          </a:p>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Review</a:t>
            </a:r>
            <a:endParaRPr lang="en-US" sz="1200" dirty="0"/>
          </a:p>
          <a:p>
            <a:pPr indent="0" marL="0">
              <a:spcAft>
                <a:spcPts val="800"/>
              </a:spcAft>
              <a:buNone/>
            </a:pPr>
            <a:r>
              <a:rPr lang="en-US" sz="1400" dirty="0">
                <a:solidFill>
                  <a:schemeClr val="tx2"/>
                </a:solidFill>
              </a:rPr>
              <a:t>Compare CIE and CO attainment reports with the current process; faculty and exam cell feedback decide the rollout.</a:t>
            </a:r>
            <a:endParaRPr lang="en-US" sz="1200" dirty="0"/>
          </a:p>
        </p:txBody>
      </p:sp>
      <p:sp>
        <p:nvSpPr>
          <p:cNvPr id="12" name="Text 10"/>
          <p:cNvSpPr txBox="1"/>
          <p:nvPr/>
        </p:nvSpPr>
        <p:spPr>
          <a:xfrm>
            <a:off x="548640" y="5029200"/>
            <a:ext cx="10972800" cy="731520"/>
          </a:xfrm>
          <a:prstGeom prst="rect">
            <a:avLst/>
          </a:prstGeom>
          <a:noFill/>
          <a:ln/>
        </p:spPr>
        <p:txBody>
          <a:bodyPr wrap="square" lIns="0" tIns="0" rIns="0" bIns="0" rtlCol="0" anchor="t"/>
          <a:lstStyle/>
          <a:p>
            <a:pPr indent="0" marL="0">
              <a:buNone/>
            </a:pPr>
            <a:r>
              <a:rPr lang="en-US" sz="1600" b="1" dirty="0">
                <a:solidFill>
                  <a:schemeClr val="tx1"/>
                </a:solidFill>
              </a:rPr>
              <a:t>What we need from Fr. CRCE: </a:t>
            </a:r>
            <a:pPr indent="0" marL="0">
              <a:buNone/>
            </a:pPr>
            <a:r>
              <a:rPr lang="en-US" sz="1600" dirty="0">
                <a:solidFill>
                  <a:schemeClr val="tx1"/>
                </a:solidFill>
              </a:rPr>
              <a:t>the R2024 rule book, the 2026-27 academic calendar, pilot timetables and syllabi, and one coordinator in the Dean’s office.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822960"/>
            <a:ext cx="10058400" cy="365760"/>
          </a:xfrm>
          <a:prstGeom prst="rect">
            <a:avLst/>
          </a:prstGeom>
          <a:noFill/>
          <a:ln/>
        </p:spPr>
        <p:txBody>
          <a:bodyPr wrap="square" lIns="0" tIns="0" rIns="0" bIns="0" rtlCol="0" anchor="ctr"/>
          <a:lstStyle/>
          <a:p>
            <a:pPr indent="0" marL="0">
              <a:buNone/>
            </a:pPr>
            <a:r>
              <a:rPr lang="en-US" sz="1500" b="1" spc="300" kern="0" dirty="0">
                <a:solidFill>
                  <a:schemeClr val="accent2"/>
                </a:solidFill>
              </a:rPr>
              <a:t>NEXT STEP</a:t>
            </a:r>
            <a:endParaRPr lang="en-US" sz="1500" dirty="0"/>
          </a:p>
        </p:txBody>
      </p:sp>
      <p:sp>
        <p:nvSpPr>
          <p:cNvPr id="3" name="Text 1"/>
          <p:cNvSpPr txBox="1"/>
          <p:nvPr/>
        </p:nvSpPr>
        <p:spPr>
          <a:xfrm>
            <a:off x="731520" y="1325880"/>
            <a:ext cx="10515600" cy="9144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Try it with your own courses</a:t>
            </a:r>
            <a:endParaRPr lang="en-US" sz="4400" dirty="0"/>
          </a:p>
        </p:txBody>
      </p:sp>
      <p:sp>
        <p:nvSpPr>
          <p:cNvPr id="4" name="Text 2"/>
          <p:cNvSpPr txBox="1"/>
          <p:nvPr/>
        </p:nvSpPr>
        <p:spPr>
          <a:xfrm>
            <a:off x="731520" y="2423160"/>
            <a:ext cx="9875520" cy="914400"/>
          </a:xfrm>
          <a:prstGeom prst="rect">
            <a:avLst/>
          </a:prstGeom>
          <a:noFill/>
          <a:ln/>
        </p:spPr>
        <p:txBody>
          <a:bodyPr wrap="square" lIns="0" tIns="0" rIns="0" bIns="0" rtlCol="0" anchor="t"/>
          <a:lstStyle/>
          <a:p>
            <a:pPr indent="0" marL="0">
              <a:buNone/>
            </a:pPr>
            <a:r>
              <a:rPr lang="en-US" sz="1900" dirty="0">
                <a:solidFill>
                  <a:schemeClr val="accent6"/>
                </a:solidFill>
              </a:rPr>
              <a:t>The demo is live and already holds Fr. CRCE’s programmes, departments and R2024 rules. Pick the pilot scope and we load your timetables and syllabi.</a:t>
            </a:r>
            <a:endParaRPr lang="en-US" sz="1900" dirty="0"/>
          </a:p>
        </p:txBody>
      </p:sp>
      <p:sp>
        <p:nvSpPr>
          <p:cNvPr id="5" name="Next step 1"/>
          <p:cNvSpPr/>
          <p:nvPr/>
        </p:nvSpPr>
        <p:spPr>
          <a:xfrm>
            <a:off x="731520" y="4206240"/>
            <a:ext cx="3429000" cy="1737360"/>
          </a:xfrm>
          <a:prstGeom prst="roundRect">
            <a:avLst>
              <a:gd name="adj" fmla="val 6316"/>
            </a:avLst>
          </a:prstGeom>
          <a:solidFill>
            <a:schemeClr val="accent3"/>
          </a:solidFill>
          <a:ln w="12700">
            <a:solidFill>
              <a:schemeClr val="accent3"/>
            </a:solidFill>
            <a:prstDash val="solid"/>
          </a:ln>
        </p:spPr>
      </p:sp>
      <p:sp>
        <p:nvSpPr>
          <p:cNvPr id="6" name="Text 4"/>
          <p:cNvSpPr txBox="1"/>
          <p:nvPr/>
        </p:nvSpPr>
        <p:spPr>
          <a:xfrm>
            <a:off x="1005840" y="4434840"/>
            <a:ext cx="2880360" cy="132588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2"/>
                </a:solidFill>
              </a:rPr>
              <a:t>DEMO SITE</a:t>
            </a:r>
            <a:endParaRPr lang="en-US" sz="1200" dirty="0"/>
          </a:p>
          <a:p>
            <a:pPr indent="0" marL="0">
              <a:spcAft>
                <a:spcPts val="600"/>
              </a:spcAft>
              <a:buNone/>
            </a:pPr>
            <a:r>
              <a:rPr lang="en-US" sz="1700" dirty="0">
                <a:solidFill>
                  <a:schemeClr val="bg1"/>
                </a:solidFill>
              </a:rPr>
              <a:t>51-255-35-112.sslip.io</a:t>
            </a:r>
            <a:endParaRPr lang="en-US" sz="1200" dirty="0"/>
          </a:p>
        </p:txBody>
      </p:sp>
      <p:sp>
        <p:nvSpPr>
          <p:cNvPr id="7" name="Next step 2"/>
          <p:cNvSpPr/>
          <p:nvPr/>
        </p:nvSpPr>
        <p:spPr>
          <a:xfrm>
            <a:off x="4434840" y="4206240"/>
            <a:ext cx="3429000" cy="1737360"/>
          </a:xfrm>
          <a:prstGeom prst="roundRect">
            <a:avLst>
              <a:gd name="adj" fmla="val 6316"/>
            </a:avLst>
          </a:prstGeom>
          <a:solidFill>
            <a:schemeClr val="accent3"/>
          </a:solidFill>
          <a:ln w="12700">
            <a:solidFill>
              <a:schemeClr val="accent3"/>
            </a:solidFill>
            <a:prstDash val="solid"/>
          </a:ln>
        </p:spPr>
      </p:sp>
      <p:sp>
        <p:nvSpPr>
          <p:cNvPr id="8" name="Text 6"/>
          <p:cNvSpPr txBox="1"/>
          <p:nvPr/>
        </p:nvSpPr>
        <p:spPr>
          <a:xfrm>
            <a:off x="4709160" y="4434840"/>
            <a:ext cx="2880360" cy="132588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2"/>
                </a:solidFill>
              </a:rPr>
              <a:t>DEMO LOGINS</a:t>
            </a:r>
            <a:endParaRPr lang="en-US" sz="1200" dirty="0"/>
          </a:p>
          <a:p>
            <a:pPr indent="0" marL="0">
              <a:spcAft>
                <a:spcPts val="600"/>
              </a:spcAft>
              <a:buNone/>
            </a:pPr>
            <a:r>
              <a:rPr lang="en-US" sz="1700" dirty="0">
                <a:solidFill>
                  <a:schemeClr val="bg1"/>
                </a:solidFill>
              </a:rPr>
              <a:t>admin · teacher · s01</a:t>
            </a:r>
            <a:endParaRPr lang="en-US" sz="1200" dirty="0"/>
          </a:p>
          <a:p>
            <a:pPr indent="0" marL="0">
              <a:spcAft>
                <a:spcPts val="600"/>
              </a:spcAft>
              <a:buNone/>
            </a:pPr>
            <a:r>
              <a:rPr lang="en-US" sz="1700" dirty="0">
                <a:solidFill>
                  <a:schemeClr val="bg1"/>
                </a:solidFill>
              </a:rPr>
              <a:t>shared on request</a:t>
            </a:r>
            <a:endParaRPr lang="en-US" sz="1200" dirty="0"/>
          </a:p>
        </p:txBody>
      </p:sp>
      <p:sp>
        <p:nvSpPr>
          <p:cNvPr id="9" name="Next step 3"/>
          <p:cNvSpPr/>
          <p:nvPr/>
        </p:nvSpPr>
        <p:spPr>
          <a:xfrm>
            <a:off x="8138160" y="4206240"/>
            <a:ext cx="3429000" cy="1737360"/>
          </a:xfrm>
          <a:prstGeom prst="roundRect">
            <a:avLst>
              <a:gd name="adj" fmla="val 6316"/>
            </a:avLst>
          </a:prstGeom>
          <a:solidFill>
            <a:schemeClr val="accent3"/>
          </a:solidFill>
          <a:ln w="12700">
            <a:solidFill>
              <a:schemeClr val="accent3"/>
            </a:solidFill>
            <a:prstDash val="solid"/>
          </a:ln>
        </p:spPr>
      </p:sp>
      <p:sp>
        <p:nvSpPr>
          <p:cNvPr id="10" name="Text 8"/>
          <p:cNvSpPr txBox="1"/>
          <p:nvPr/>
        </p:nvSpPr>
        <p:spPr>
          <a:xfrm>
            <a:off x="8412480" y="4434840"/>
            <a:ext cx="2880360" cy="132588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2"/>
                </a:solidFill>
              </a:rPr>
              <a:t>CONTACT</a:t>
            </a:r>
            <a:endParaRPr lang="en-US" sz="1200" dirty="0"/>
          </a:p>
          <a:p>
            <a:pPr indent="0" marL="0">
              <a:spcAft>
                <a:spcPts val="600"/>
              </a:spcAft>
              <a:buNone/>
            </a:pPr>
            <a:r>
              <a:rPr lang="en-US" sz="1700" dirty="0">
                <a:solidFill>
                  <a:schemeClr val="bg1"/>
                </a:solidFill>
              </a:rPr>
              <a:t>[Name]</a:t>
            </a:r>
            <a:endParaRPr lang="en-US" sz="1200" dirty="0"/>
          </a:p>
          <a:p>
            <a:pPr indent="0" marL="0">
              <a:spcAft>
                <a:spcPts val="600"/>
              </a:spcAft>
              <a:buNone/>
            </a:pPr>
            <a:r>
              <a:rPr lang="en-US" sz="1700" dirty="0">
                <a:solidFill>
                  <a:schemeClr val="bg1"/>
                </a:solidFill>
              </a:rPr>
              <a:t>[Phone · Email]</a:t>
            </a:r>
            <a:endParaRPr lang="en-US" sz="1200" dirty="0"/>
          </a:p>
        </p:txBody>
      </p:sp>
    </p:spTree>
  </p:cSld>
  <p:clrMapOvr>
    <a:masterClrMapping/>
  </p:clrMapOvr>
</p:sld>
</file>

<file path=ppt/theme/theme1.xml><?xml version="1.0" encoding="utf-8"?>
<a:theme xmlns:a="http://schemas.openxmlformats.org/drawingml/2006/main" name="CampusFlow Academic">
  <a:themeElements>
    <a:clrScheme name="CampusFlow Academic">
      <a:dk1>
        <a:srgbClr val="15223B"/>
      </a:dk1>
      <a:lt1>
        <a:srgbClr val="F7F5EF"/>
      </a:lt1>
      <a:dk2>
        <a:srgbClr val="3D4657"/>
      </a:dk2>
      <a:lt2>
        <a:srgbClr val="ECE8DE"/>
      </a:lt2>
      <a:accent1>
        <a:srgbClr val="A3471F"/>
      </a:accent1>
      <a:accent2>
        <a:srgbClr val="F2B48C"/>
      </a:accent2>
      <a:accent3>
        <a:srgbClr val="1F2F4D"/>
      </a:accent3>
      <a:accent4>
        <a:srgbClr val="5E6676"/>
      </a:accent4>
      <a:accent5>
        <a:srgbClr val="D8D2C4"/>
      </a:accent5>
      <a:accent6>
        <a:srgbClr val="C9D2E3"/>
      </a:accent6>
      <a:hlink>
        <a:srgbClr val="A3471F"/>
      </a:hlink>
      <a:folHlink>
        <a:srgbClr val="5E6676"/>
      </a:folHlink>
    </a:clrScheme>
    <a:fontScheme name="CampusFlow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CampusFlow for Fr. CRCE: Dean of Academics walkthrough</dc:title>
  <dc:subject>PptxGenJS Presentation</dc:subject>
  <dc:creator>CampusFlow</dc:creator>
  <cp:lastModifiedBy>CampusFlow</cp:lastModifiedBy>
  <cp:revision>1</cp:revision>
  <dcterms:created xsi:type="dcterms:W3CDTF">2026-10-17T14:30:13Z</dcterms:created>
  <dcterms:modified xsi:type="dcterms:W3CDTF">2026-10-17T14:30:13Z</dcterms:modified>
</cp:coreProperties>
</file>